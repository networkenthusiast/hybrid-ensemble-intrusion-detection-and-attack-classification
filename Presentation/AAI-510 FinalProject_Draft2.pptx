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71" r:id="rId4"/>
    <p:sldId id="268" r:id="rId5"/>
    <p:sldId id="259" r:id="rId6"/>
    <p:sldId id="260" r:id="rId7"/>
    <p:sldId id="261" r:id="rId8"/>
    <p:sldId id="265" r:id="rId9"/>
    <p:sldId id="266" r:id="rId10"/>
    <p:sldId id="267"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231" autoAdjust="0"/>
  </p:normalViewPr>
  <p:slideViewPr>
    <p:cSldViewPr snapToGrid="0">
      <p:cViewPr varScale="1">
        <p:scale>
          <a:sx n="79" d="100"/>
          <a:sy n="79"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2194E-800A-49C6-B02A-1E98EFA53026}" type="datetimeFigureOut">
              <a:rPr lang="en-IN" smtClean="0"/>
              <a:t>19-06-2026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0AAEB-7188-43A5-83AB-AE881294F089}" type="slidenum">
              <a:rPr lang="en-IN" smtClean="0"/>
              <a:t>‹#›</a:t>
            </a:fld>
            <a:endParaRPr lang="en-IN"/>
          </a:p>
        </p:txBody>
      </p:sp>
    </p:spTree>
    <p:extLst>
      <p:ext uri="{BB962C8B-B14F-4D97-AF65-F5344CB8AC3E}">
        <p14:creationId xmlns:p14="http://schemas.microsoft.com/office/powerpoint/2010/main" val="2291156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To understand why our system is so vital, we must first look at where traditional firewalls fail. Standard security tools are designed to guard the outer boundary of our business, much like a security guard at the front door of a building. However, if an attacker sends an email and an employee clicks a bad link, the perimeter is bypassed from the inside. The wall remains perfectly intact, but the threat is already within our network. Furthermore, modern network traffic is heavily encrypted, which allows malicious actors to hide dangerous data flows inside standard communication channels. Because legacy tools are blind to these internal movements, we must transition to an analytical system that continuously evaluates internal network </a:t>
            </a:r>
            <a:r>
              <a:rPr lang="en-IN" dirty="0" err="1"/>
              <a:t>behaviors</a:t>
            </a:r>
            <a:r>
              <a:rPr lang="en-IN" dirty="0"/>
              <a:t>.</a:t>
            </a:r>
          </a:p>
          <a:p>
            <a:endParaRPr lang="en-IN" dirty="0"/>
          </a:p>
          <a:p>
            <a:endParaRPr lang="en-IN" dirty="0"/>
          </a:p>
        </p:txBody>
      </p:sp>
      <p:sp>
        <p:nvSpPr>
          <p:cNvPr id="4" name="Slide Number Placeholder 3"/>
          <p:cNvSpPr>
            <a:spLocks noGrp="1"/>
          </p:cNvSpPr>
          <p:nvPr>
            <p:ph type="sldNum" sz="quarter" idx="5"/>
          </p:nvPr>
        </p:nvSpPr>
        <p:spPr/>
        <p:txBody>
          <a:bodyPr/>
          <a:lstStyle/>
          <a:p>
            <a:fld id="{3AA0AAEB-7188-43A5-83AB-AE881294F089}" type="slidenum">
              <a:rPr lang="en-IN" smtClean="0"/>
              <a:t>2</a:t>
            </a:fld>
            <a:endParaRPr lang="en-IN"/>
          </a:p>
        </p:txBody>
      </p:sp>
    </p:spTree>
    <p:extLst>
      <p:ext uri="{BB962C8B-B14F-4D97-AF65-F5344CB8AC3E}">
        <p14:creationId xmlns:p14="http://schemas.microsoft.com/office/powerpoint/2010/main" val="77516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A0AAEB-7188-43A5-83AB-AE881294F089}" type="slidenum">
              <a:rPr lang="en-IN" smtClean="0"/>
              <a:t>3</a:t>
            </a:fld>
            <a:endParaRPr lang="en-IN"/>
          </a:p>
        </p:txBody>
      </p:sp>
    </p:spTree>
    <p:extLst>
      <p:ext uri="{BB962C8B-B14F-4D97-AF65-F5344CB8AC3E}">
        <p14:creationId xmlns:p14="http://schemas.microsoft.com/office/powerpoint/2010/main" val="1915298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Before we discuss how we streamlined our network traffic data, let us address the core mission of this project and exactly how our new architecture achieves it. Our strategic objective was to build a system that goes far beyond a simple binary warning. We set out to create an autonomous </a:t>
            </a:r>
            <a:r>
              <a:rPr lang="en-IN" sz="1200" kern="1200" dirty="0" err="1">
                <a:solidFill>
                  <a:schemeClr val="tx1"/>
                </a:solidFill>
                <a:effectLst/>
                <a:latin typeface="+mn-lt"/>
                <a:ea typeface="+mn-ea"/>
                <a:cs typeface="+mn-cs"/>
              </a:rPr>
              <a:t>defense</a:t>
            </a:r>
            <a:r>
              <a:rPr lang="en-IN" sz="1200" kern="1200" dirty="0">
                <a:solidFill>
                  <a:schemeClr val="tx1"/>
                </a:solidFill>
                <a:effectLst/>
                <a:latin typeface="+mn-lt"/>
                <a:ea typeface="+mn-ea"/>
                <a:cs typeface="+mn-cs"/>
              </a:rPr>
              <a:t> shield that instantly tells us if we are under attack, exactly what type of threat is hitting us, and how confident we are in that assessment. </a:t>
            </a:r>
          </a:p>
          <a:p>
            <a:r>
              <a:rPr lang="en-IN" sz="1200" kern="1200" dirty="0">
                <a:solidFill>
                  <a:schemeClr val="tx1"/>
                </a:solidFill>
                <a:effectLst/>
                <a:latin typeface="+mn-lt"/>
                <a:ea typeface="+mn-ea"/>
                <a:cs typeface="+mn-cs"/>
              </a:rPr>
              <a:t>As you can see mapped out in our master architecture diagram from image_eb92a5.jpg, we achieve this by running three distinct layers of artificial intelligence in parallel. The first layer acts as our rapid response scout, separating normal daily operations from general malicious activity. The second layer uses deep </a:t>
            </a:r>
            <a:r>
              <a:rPr lang="en-IN" sz="1200" kern="1200" dirty="0" err="1">
                <a:solidFill>
                  <a:schemeClr val="tx1"/>
                </a:solidFill>
                <a:effectLst/>
                <a:latin typeface="+mn-lt"/>
                <a:ea typeface="+mn-ea"/>
                <a:cs typeface="+mn-cs"/>
              </a:rPr>
              <a:t>behavioral</a:t>
            </a:r>
            <a:r>
              <a:rPr lang="en-IN" sz="1200" kern="1200" dirty="0">
                <a:solidFill>
                  <a:schemeClr val="tx1"/>
                </a:solidFill>
                <a:effectLst/>
                <a:latin typeface="+mn-lt"/>
                <a:ea typeface="+mn-ea"/>
                <a:cs typeface="+mn-cs"/>
              </a:rPr>
              <a:t> clustering to spot completely hidden or unlearned anomalies that try to slip past standard filters. The third layer acts as our specialized triage doctor, </a:t>
            </a:r>
            <a:r>
              <a:rPr lang="en-IN" sz="1200" kern="1200" dirty="0" err="1">
                <a:solidFill>
                  <a:schemeClr val="tx1"/>
                </a:solidFill>
                <a:effectLst/>
                <a:latin typeface="+mn-lt"/>
                <a:ea typeface="+mn-ea"/>
                <a:cs typeface="+mn-cs"/>
              </a:rPr>
              <a:t>analyzing</a:t>
            </a:r>
            <a:r>
              <a:rPr lang="en-IN" sz="1200" kern="1200" dirty="0">
                <a:solidFill>
                  <a:schemeClr val="tx1"/>
                </a:solidFill>
                <a:effectLst/>
                <a:latin typeface="+mn-lt"/>
                <a:ea typeface="+mn-ea"/>
                <a:cs typeface="+mn-cs"/>
              </a:rPr>
              <a:t> the traffic to assign precise risk profiles across our threat categories. </a:t>
            </a:r>
          </a:p>
          <a:p>
            <a:r>
              <a:rPr lang="en-IN" sz="1200" kern="1200" dirty="0">
                <a:solidFill>
                  <a:schemeClr val="tx1"/>
                </a:solidFill>
                <a:effectLst/>
                <a:latin typeface="+mn-lt"/>
                <a:ea typeface="+mn-ea"/>
                <a:cs typeface="+mn-cs"/>
              </a:rPr>
              <a:t>Finally, all three layers feed their unique notes into a master decision brain, which cross references the intelligence to deliver a verified, ultra high accuracy final action plan. This multi layered approach ensures the enterprise is never left blind to a sophisticated cyber threat</a:t>
            </a:r>
          </a:p>
          <a:p>
            <a:endParaRPr lang="en-IN" dirty="0"/>
          </a:p>
        </p:txBody>
      </p:sp>
      <p:sp>
        <p:nvSpPr>
          <p:cNvPr id="4" name="Slide Number Placeholder 3"/>
          <p:cNvSpPr>
            <a:spLocks noGrp="1"/>
          </p:cNvSpPr>
          <p:nvPr>
            <p:ph type="sldNum" sz="quarter" idx="5"/>
          </p:nvPr>
        </p:nvSpPr>
        <p:spPr/>
        <p:txBody>
          <a:bodyPr/>
          <a:lstStyle/>
          <a:p>
            <a:fld id="{3AA0AAEB-7188-43A5-83AB-AE881294F089}" type="slidenum">
              <a:rPr lang="en-IN" smtClean="0"/>
              <a:t>4</a:t>
            </a:fld>
            <a:endParaRPr lang="en-IN"/>
          </a:p>
        </p:txBody>
      </p:sp>
    </p:spTree>
    <p:extLst>
      <p:ext uri="{BB962C8B-B14F-4D97-AF65-F5344CB8AC3E}">
        <p14:creationId xmlns:p14="http://schemas.microsoft.com/office/powerpoint/2010/main" val="1550839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Now that we understand our strategic mission, let us look at the actual scale of the enterprise data footprint we are protecting. As detailed in Section 3 of our Technical Report, we validated our architecture against a massive corporate communications baseline containing over 2.8 million individual network records. When we look at this data under a microscope, we discover our first major operational reality: over 80 percent of our daily network volume consists of perfectly safe, normal business operations. The remaining 19.69 percent constitutes our active threat footprint. To handle this massive volume without slowing down our business, our initial baseline model performs a rapid automated pass, acting as a high speed filter that instantly secures normal day to day operations and isolates the malicious traffic for deeper analysis.</a:t>
            </a:r>
          </a:p>
        </p:txBody>
      </p:sp>
      <p:sp>
        <p:nvSpPr>
          <p:cNvPr id="4" name="Slide Number Placeholder 3"/>
          <p:cNvSpPr>
            <a:spLocks noGrp="1"/>
          </p:cNvSpPr>
          <p:nvPr>
            <p:ph type="sldNum" sz="quarter" idx="5"/>
          </p:nvPr>
        </p:nvSpPr>
        <p:spPr/>
        <p:txBody>
          <a:bodyPr/>
          <a:lstStyle/>
          <a:p>
            <a:fld id="{3AA0AAEB-7188-43A5-83AB-AE881294F089}" type="slidenum">
              <a:rPr lang="en-IN" smtClean="0"/>
              <a:t>5</a:t>
            </a:fld>
            <a:endParaRPr lang="en-IN"/>
          </a:p>
        </p:txBody>
      </p:sp>
    </p:spTree>
    <p:extLst>
      <p:ext uri="{BB962C8B-B14F-4D97-AF65-F5344CB8AC3E}">
        <p14:creationId xmlns:p14="http://schemas.microsoft.com/office/powerpoint/2010/main" val="1687311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Isolating general threat traffic is only half the battle. In raw system logs, malicious traffic is incredibly chaotic, split across fifteen highly specific, fragmented technical signatures. Forcing a human analyst to interpret fifteen separate alarms is a recipe for operational failure. We solved this by consolidating those fifteen raw technical signatures into five highly structured, actionable corporate attack families. As you can see on the slide, Digital Flooding attacks dominate the volume, followed by Reconnaissance Probing. Specialized threats like Credential Theft, Malicious Takeovers, and Web Fraud make up a tiny fraction of the data. This strategic categorization is a massive milestone for our project. By mapping the chaos into a structured taxonomy, we have created the perfect framework for Model 1 A, our advanced multiclass classification engine, to identify and attribute exact threat types automatically.</a:t>
            </a:r>
          </a:p>
        </p:txBody>
      </p:sp>
      <p:sp>
        <p:nvSpPr>
          <p:cNvPr id="4" name="Slide Number Placeholder 3"/>
          <p:cNvSpPr>
            <a:spLocks noGrp="1"/>
          </p:cNvSpPr>
          <p:nvPr>
            <p:ph type="sldNum" sz="quarter" idx="5"/>
          </p:nvPr>
        </p:nvSpPr>
        <p:spPr/>
        <p:txBody>
          <a:bodyPr/>
          <a:lstStyle/>
          <a:p>
            <a:fld id="{3AA0AAEB-7188-43A5-83AB-AE881294F089}" type="slidenum">
              <a:rPr lang="en-IN" smtClean="0"/>
              <a:t>6</a:t>
            </a:fld>
            <a:endParaRPr lang="en-IN"/>
          </a:p>
        </p:txBody>
      </p:sp>
    </p:spTree>
    <p:extLst>
      <p:ext uri="{BB962C8B-B14F-4D97-AF65-F5344CB8AC3E}">
        <p14:creationId xmlns:p14="http://schemas.microsoft.com/office/powerpoint/2010/main" val="3973909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Once we structured our network threat definitions, we launched our first intelligent defensive layer: a </a:t>
            </a:r>
            <a:r>
              <a:rPr lang="en-IN" dirty="0" err="1"/>
              <a:t>Softmax</a:t>
            </a:r>
            <a:r>
              <a:rPr lang="en-IN" dirty="0"/>
              <a:t> style risk triage engine. Instead of forcing a rigid black or white guess, this model operates like an automated risk officer, assigning fluid probability percentages across all threat categories at the same time.</a:t>
            </a:r>
          </a:p>
          <a:p>
            <a:r>
              <a:rPr lang="en-IN" dirty="0"/>
              <a:t>At first glance, the performance report card looks like a complete victory, achieving an exceptional global baseline accuracy of 99.60 percent. This includes a seamless 100 percent success rate for normal daily operations and a 99 percent mitigation rate against massive digital flooding disruptions.</a:t>
            </a:r>
          </a:p>
          <a:p>
            <a:r>
              <a:rPr lang="en-IN" dirty="0"/>
              <a:t>But as business leaders, we must look past high level summaries. This brings us to a dangerous industry illusion known as the Accuracy Paradox. Because normal operations and flooding events make up over 93 percent of our network logs, a standard algorithm can completely fail to learn rare, critical threats and still walk away with a top grade. In fact, due to extreme data scarcity, our triage model returned a devastating 0.00 F1 score for Web Attacks, missing them entirely. This hidden blind spot is our ultimate justification for building the final hybrid shield. We cannot leave our most critical web pathways vulnerable to silent, unlearned exploits simply because they happen less frequently.</a:t>
            </a:r>
          </a:p>
        </p:txBody>
      </p:sp>
      <p:sp>
        <p:nvSpPr>
          <p:cNvPr id="4" name="Slide Number Placeholder 3"/>
          <p:cNvSpPr>
            <a:spLocks noGrp="1"/>
          </p:cNvSpPr>
          <p:nvPr>
            <p:ph type="sldNum" sz="quarter" idx="5"/>
          </p:nvPr>
        </p:nvSpPr>
        <p:spPr/>
        <p:txBody>
          <a:bodyPr/>
          <a:lstStyle/>
          <a:p>
            <a:fld id="{3AA0AAEB-7188-43A5-83AB-AE881294F089}" type="slidenum">
              <a:rPr lang="en-IN" smtClean="0"/>
              <a:t>7</a:t>
            </a:fld>
            <a:endParaRPr lang="en-IN"/>
          </a:p>
        </p:txBody>
      </p:sp>
    </p:spTree>
    <p:extLst>
      <p:ext uri="{BB962C8B-B14F-4D97-AF65-F5344CB8AC3E}">
        <p14:creationId xmlns:p14="http://schemas.microsoft.com/office/powerpoint/2010/main" val="1980388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To eliminate the </a:t>
            </a:r>
            <a:r>
              <a:rPr lang="en-IN" dirty="0" err="1"/>
              <a:t>blindspots</a:t>
            </a:r>
            <a:r>
              <a:rPr lang="en-IN" dirty="0"/>
              <a:t> that we just described, we had to fundamentally upgrade how our system views network </a:t>
            </a:r>
            <a:r>
              <a:rPr lang="en-IN" dirty="0" err="1"/>
              <a:t>behaviors</a:t>
            </a:r>
            <a:r>
              <a:rPr lang="en-IN" dirty="0"/>
              <a:t>. Traditional analytics look at data in straight lines. However, modern hackers do not attack in straight lines; they intentionally slow down and alter their tempos to mimic normal corporate traffic and blend in. To counter this, I replaced our standard linear tracking with an advanced nonlinear behavior profiling framework called Kernel PCA using </a:t>
            </a:r>
            <a:r>
              <a:rPr lang="en-IN" dirty="0" err="1"/>
              <a:t>Nystroem</a:t>
            </a:r>
            <a:r>
              <a:rPr lang="en-IN" dirty="0"/>
              <a:t> approximation, detailed in Section 4.4 of our Technical Report. This upgrade functions like a high definition thermal camera for our network, revealing complex, curved data shapes that were previously invisible. This advanced change successfully boosted our </a:t>
            </a:r>
            <a:r>
              <a:rPr lang="en-IN" dirty="0" err="1"/>
              <a:t>behavioral</a:t>
            </a:r>
            <a:r>
              <a:rPr lang="en-IN" dirty="0"/>
              <a:t> threat grouping clarity by exactly 19.00 percent, raising our quality score from 0.4893 to 0.5823 and forcing novel, unlearned stealth attacks out of hiding</a:t>
            </a:r>
          </a:p>
        </p:txBody>
      </p:sp>
      <p:sp>
        <p:nvSpPr>
          <p:cNvPr id="4" name="Slide Number Placeholder 3"/>
          <p:cNvSpPr>
            <a:spLocks noGrp="1"/>
          </p:cNvSpPr>
          <p:nvPr>
            <p:ph type="sldNum" sz="quarter" idx="5"/>
          </p:nvPr>
        </p:nvSpPr>
        <p:spPr/>
        <p:txBody>
          <a:bodyPr/>
          <a:lstStyle/>
          <a:p>
            <a:fld id="{3AA0AAEB-7188-43A5-83AB-AE881294F089}" type="slidenum">
              <a:rPr lang="en-IN" smtClean="0"/>
              <a:t>8</a:t>
            </a:fld>
            <a:endParaRPr lang="en-IN"/>
          </a:p>
        </p:txBody>
      </p:sp>
    </p:spTree>
    <p:extLst>
      <p:ext uri="{BB962C8B-B14F-4D97-AF65-F5344CB8AC3E}">
        <p14:creationId xmlns:p14="http://schemas.microsoft.com/office/powerpoint/2010/main" val="3878554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We solved our security </a:t>
            </a:r>
            <a:r>
              <a:rPr lang="en-IN" dirty="0" err="1"/>
              <a:t>blindspot</a:t>
            </a:r>
            <a:r>
              <a:rPr lang="en-IN" dirty="0"/>
              <a:t> by creating a unified hybrid shield. We did not just pick one algorithm; instead, we stacked them into an interconnected </a:t>
            </a:r>
            <a:r>
              <a:rPr lang="en-IN" dirty="0" err="1"/>
              <a:t>defense</a:t>
            </a:r>
            <a:r>
              <a:rPr lang="en-IN" dirty="0"/>
              <a:t> system, which you can see visualized in our main architectural blueprint. Our final master framework, powered by an optimized XGBoost engine, evaluates four distinct intelligence layers simultaneously before making a final decision. It processes our baseline threat signals, our multiclass triage probabilities, our advanced </a:t>
            </a:r>
            <a:r>
              <a:rPr lang="en-IN" dirty="0" err="1"/>
              <a:t>behavioral</a:t>
            </a:r>
            <a:r>
              <a:rPr lang="en-IN" dirty="0"/>
              <a:t> clustering distance metrics, and the raw network features all at once. By evaluating probability vectors and spatial distance vectors simultaneously, our final model eliminates individual </a:t>
            </a:r>
            <a:r>
              <a:rPr lang="en-IN" dirty="0" err="1"/>
              <a:t>blindspots</a:t>
            </a:r>
            <a:r>
              <a:rPr lang="en-IN" dirty="0"/>
              <a:t> and achieves near perfect threat mitigation.</a:t>
            </a:r>
          </a:p>
        </p:txBody>
      </p:sp>
      <p:sp>
        <p:nvSpPr>
          <p:cNvPr id="4" name="Slide Number Placeholder 3"/>
          <p:cNvSpPr>
            <a:spLocks noGrp="1"/>
          </p:cNvSpPr>
          <p:nvPr>
            <p:ph type="sldNum" sz="quarter" idx="5"/>
          </p:nvPr>
        </p:nvSpPr>
        <p:spPr/>
        <p:txBody>
          <a:bodyPr/>
          <a:lstStyle/>
          <a:p>
            <a:fld id="{3AA0AAEB-7188-43A5-83AB-AE881294F089}" type="slidenum">
              <a:rPr lang="en-IN" smtClean="0"/>
              <a:t>9</a:t>
            </a:fld>
            <a:endParaRPr lang="en-IN"/>
          </a:p>
        </p:txBody>
      </p:sp>
    </p:spTree>
    <p:extLst>
      <p:ext uri="{BB962C8B-B14F-4D97-AF65-F5344CB8AC3E}">
        <p14:creationId xmlns:p14="http://schemas.microsoft.com/office/powerpoint/2010/main" val="2494337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As executive leaders, we must balance advanced artificial intelligence with practical risk management. Deploying a multi layered hybrid framework introduces real operational questions. First, running multiple models simultaneously demands computational power. We mitigate this by utilizing highly optimized, lightweight mathematical approximations that deliver maximum speed with minimum resource drag. Second, network environments change over time, a concept known as data drift. We counter this by building an automated retraining cycle that keeps our models sharp against fresh threat intelligence. Finally, to ensure our final layer is never corrupted by an upstream mistake, we implemented strict validation guardrails across our data pipeline, as outlined in Section 6.1 of the report.</a:t>
            </a:r>
          </a:p>
        </p:txBody>
      </p:sp>
      <p:sp>
        <p:nvSpPr>
          <p:cNvPr id="4" name="Slide Number Placeholder 3"/>
          <p:cNvSpPr>
            <a:spLocks noGrp="1"/>
          </p:cNvSpPr>
          <p:nvPr>
            <p:ph type="sldNum" sz="quarter" idx="5"/>
          </p:nvPr>
        </p:nvSpPr>
        <p:spPr/>
        <p:txBody>
          <a:bodyPr/>
          <a:lstStyle/>
          <a:p>
            <a:fld id="{3AA0AAEB-7188-43A5-83AB-AE881294F089}" type="slidenum">
              <a:rPr lang="en-IN" smtClean="0"/>
              <a:t>10</a:t>
            </a:fld>
            <a:endParaRPr lang="en-IN"/>
          </a:p>
        </p:txBody>
      </p:sp>
    </p:spTree>
    <p:extLst>
      <p:ext uri="{BB962C8B-B14F-4D97-AF65-F5344CB8AC3E}">
        <p14:creationId xmlns:p14="http://schemas.microsoft.com/office/powerpoint/2010/main" val="968807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To bring this next generation protection to our enterprise, we recommend a pragmatic, three phase rollout strategy. In the first two months, we will conduct a controlled trial of our hybrid shield within an isolated sandbox network to validate stability without risking live production. In phases two and three, we will scale our validation across our diverse cloud environments and integrate Explainable AI features. This ensures our security analysts instantly see the transparent logic behind every alert, completely eliminating guesswork. By adopting this intelligent, multi layered framework, our organization will eliminate analyst fatigue, meet modern regulatory compliance, and secure our enterprise footprint for years to come. Thank you, and we are now happy to open the floor to your questions</a:t>
            </a:r>
          </a:p>
        </p:txBody>
      </p:sp>
      <p:sp>
        <p:nvSpPr>
          <p:cNvPr id="4" name="Slide Number Placeholder 3"/>
          <p:cNvSpPr>
            <a:spLocks noGrp="1"/>
          </p:cNvSpPr>
          <p:nvPr>
            <p:ph type="sldNum" sz="quarter" idx="5"/>
          </p:nvPr>
        </p:nvSpPr>
        <p:spPr/>
        <p:txBody>
          <a:bodyPr/>
          <a:lstStyle/>
          <a:p>
            <a:fld id="{3AA0AAEB-7188-43A5-83AB-AE881294F089}" type="slidenum">
              <a:rPr lang="en-IN" smtClean="0"/>
              <a:t>11</a:t>
            </a:fld>
            <a:endParaRPr lang="en-IN"/>
          </a:p>
        </p:txBody>
      </p:sp>
    </p:spTree>
    <p:extLst>
      <p:ext uri="{BB962C8B-B14F-4D97-AF65-F5344CB8AC3E}">
        <p14:creationId xmlns:p14="http://schemas.microsoft.com/office/powerpoint/2010/main" val="2957723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B9DC-DA35-EA5E-4A3F-7074D97872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875828-1098-502A-80DC-67D96CDB07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35AF5B-23A7-3A8D-CCF4-9780FEF17CFD}"/>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5" name="Footer Placeholder 4">
            <a:extLst>
              <a:ext uri="{FF2B5EF4-FFF2-40B4-BE49-F238E27FC236}">
                <a16:creationId xmlns:a16="http://schemas.microsoft.com/office/drawing/2014/main" id="{61D62DD6-0B6A-50C8-4733-2425D3EC0C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DF1D6C-C02F-81C5-6438-134621D80FA2}"/>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208095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1AC61-9C4B-FA42-EDD9-FDD063CA03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B1D182-2D2C-C873-B5BA-516AE233D7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88E7DC-6A80-1022-C276-A03888385B44}"/>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5" name="Footer Placeholder 4">
            <a:extLst>
              <a:ext uri="{FF2B5EF4-FFF2-40B4-BE49-F238E27FC236}">
                <a16:creationId xmlns:a16="http://schemas.microsoft.com/office/drawing/2014/main" id="{CA6E3A4C-A76B-3AD6-9A2C-FD39F7CB22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DBDA48-B3BC-8296-5CB0-D2748CE5B3F5}"/>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302337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BC8A2-52D5-7AA4-F39F-531FB5F3CA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6526C0-71CF-681F-8E49-B0B3DDC315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8C11E8-4935-DBB3-86D6-DD9EFD3841D2}"/>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5" name="Footer Placeholder 4">
            <a:extLst>
              <a:ext uri="{FF2B5EF4-FFF2-40B4-BE49-F238E27FC236}">
                <a16:creationId xmlns:a16="http://schemas.microsoft.com/office/drawing/2014/main" id="{9CE3358B-677A-2E66-1124-C8988F09C3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6ACD2C-EF8C-2439-22DD-7275C4F8E4D3}"/>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2370378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E262D-E1C4-ADDC-188D-90E7D5991A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B219FA-7E2F-98E3-F46E-985A430594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7ED1AB-C10C-60FA-F726-92922B3C02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7D59BA-2AF5-BD7A-E1C1-6F625039EFAC}"/>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6" name="Footer Placeholder 5">
            <a:extLst>
              <a:ext uri="{FF2B5EF4-FFF2-40B4-BE49-F238E27FC236}">
                <a16:creationId xmlns:a16="http://schemas.microsoft.com/office/drawing/2014/main" id="{A6609D41-1A62-54F8-788E-6932A7C589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136984-6FFF-0310-2DDC-671B2993EEE7}"/>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3822352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7B253-EE69-DF31-BE63-802F522669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EF1742-F87E-92CF-2FA2-B310CE1B2B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14C1E8-8ECC-0B46-0607-CC28DBDAEB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0AC057-CB4E-C82B-CD74-6AC468C471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D7C67A-3F2F-3905-875D-6231BC74CB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EC086E-1125-4450-199E-8CB9733659E1}"/>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8" name="Footer Placeholder 7">
            <a:extLst>
              <a:ext uri="{FF2B5EF4-FFF2-40B4-BE49-F238E27FC236}">
                <a16:creationId xmlns:a16="http://schemas.microsoft.com/office/drawing/2014/main" id="{DCF8F62D-D638-81B2-DBCB-0B76FFE668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7FFB80F-78E5-C02C-A38F-BA9173DA56C7}"/>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873223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74C34-4437-437D-4684-877BCC8320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A90410-39D2-ED61-AB96-E265416A5F94}"/>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4" name="Footer Placeholder 3">
            <a:extLst>
              <a:ext uri="{FF2B5EF4-FFF2-40B4-BE49-F238E27FC236}">
                <a16:creationId xmlns:a16="http://schemas.microsoft.com/office/drawing/2014/main" id="{A7540C5E-FB10-87A4-16A7-C783222B43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8427BFE-1303-3408-DD30-E57B1BDD8E65}"/>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479185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63D82C-E673-CDAE-213E-D18D0F1EC13B}"/>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3" name="Footer Placeholder 2">
            <a:extLst>
              <a:ext uri="{FF2B5EF4-FFF2-40B4-BE49-F238E27FC236}">
                <a16:creationId xmlns:a16="http://schemas.microsoft.com/office/drawing/2014/main" id="{3CFF5813-6EEC-21CD-D9A6-8C6972FF0C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F31375-25E2-56FE-8939-F5838CB178F9}"/>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2085371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DA0C0-CC27-CE1E-4FF0-DD40D808FF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A30C35-7D7F-82E6-9BE5-9FED512DD2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E48713-0839-225E-FD09-F00490A19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2CAB04-55CE-0C3B-7665-9132516C9952}"/>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6" name="Footer Placeholder 5">
            <a:extLst>
              <a:ext uri="{FF2B5EF4-FFF2-40B4-BE49-F238E27FC236}">
                <a16:creationId xmlns:a16="http://schemas.microsoft.com/office/drawing/2014/main" id="{7A2A55EC-8D71-034B-2104-739033834B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EE3403-E4AA-CB53-839A-08BA5272794D}"/>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1715549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899DA-78A0-FB38-6A20-6142735C4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98EF51F-93D1-4F96-1F77-A494A4958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2AC74E3-3218-0469-6F13-FC9495180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BC6DC8-64AB-8238-E3E9-72619CA051A5}"/>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6" name="Footer Placeholder 5">
            <a:extLst>
              <a:ext uri="{FF2B5EF4-FFF2-40B4-BE49-F238E27FC236}">
                <a16:creationId xmlns:a16="http://schemas.microsoft.com/office/drawing/2014/main" id="{ABF258F6-66DD-2994-AE48-3F91C8BBB7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906AEF-65CE-07C8-9069-E456DF75C35C}"/>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3363584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3A5C2-BF7B-3AAA-A57A-D050AF27AD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D9DF1B-4C3A-CB3C-2491-B03E9DBE88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789E20-FB4A-2C08-AB39-E76540DBBD62}"/>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5" name="Footer Placeholder 4">
            <a:extLst>
              <a:ext uri="{FF2B5EF4-FFF2-40B4-BE49-F238E27FC236}">
                <a16:creationId xmlns:a16="http://schemas.microsoft.com/office/drawing/2014/main" id="{DFDDD085-4C3C-2DB2-BAF4-1FA054FD23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549FF6-FC80-8748-DB93-AD6782432067}"/>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3201047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6184A3-2D8C-F4EB-B494-B1EDC8772F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B9BF68-1456-E04A-72C8-23E255139B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8769B0-4904-F68D-FD39-4011A5F87ED5}"/>
              </a:ext>
            </a:extLst>
          </p:cNvPr>
          <p:cNvSpPr>
            <a:spLocks noGrp="1"/>
          </p:cNvSpPr>
          <p:nvPr>
            <p:ph type="dt" sz="half" idx="10"/>
          </p:nvPr>
        </p:nvSpPr>
        <p:spPr/>
        <p:txBody>
          <a:bodyPr/>
          <a:lstStyle/>
          <a:p>
            <a:fld id="{BF394FF6-F2CB-4C97-B358-09147F235A12}" type="datetimeFigureOut">
              <a:rPr lang="en-IN" smtClean="0"/>
              <a:t>19-06-2026</a:t>
            </a:fld>
            <a:endParaRPr lang="en-IN"/>
          </a:p>
        </p:txBody>
      </p:sp>
      <p:sp>
        <p:nvSpPr>
          <p:cNvPr id="5" name="Footer Placeholder 4">
            <a:extLst>
              <a:ext uri="{FF2B5EF4-FFF2-40B4-BE49-F238E27FC236}">
                <a16:creationId xmlns:a16="http://schemas.microsoft.com/office/drawing/2014/main" id="{2E890A0D-C83F-816E-8D9B-DAAB8B3A60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729F1-E6DE-433C-1134-17B5FDDEBDBF}"/>
              </a:ext>
            </a:extLst>
          </p:cNvPr>
          <p:cNvSpPr>
            <a:spLocks noGrp="1"/>
          </p:cNvSpPr>
          <p:nvPr>
            <p:ph type="sldNum" sz="quarter" idx="12"/>
          </p:nvPr>
        </p:nvSpPr>
        <p:spPr/>
        <p:txBody>
          <a:bodyPr/>
          <a:lstStyle/>
          <a:p>
            <a:fld id="{B3587E24-E9F5-49D5-877D-7647ED7098D5}" type="slidenum">
              <a:rPr lang="en-IN" smtClean="0"/>
              <a:t>‹#›</a:t>
            </a:fld>
            <a:endParaRPr lang="en-IN"/>
          </a:p>
        </p:txBody>
      </p:sp>
    </p:spTree>
    <p:extLst>
      <p:ext uri="{BB962C8B-B14F-4D97-AF65-F5344CB8AC3E}">
        <p14:creationId xmlns:p14="http://schemas.microsoft.com/office/powerpoint/2010/main" val="204289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CAA10-1A63-BE66-8737-EDA0926426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ED972B-068B-0147-1DEE-F38EA5E46E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CB0E95-739C-8491-63E3-2D26C9287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394FF6-F2CB-4C97-B358-09147F235A12}" type="datetimeFigureOut">
              <a:rPr lang="en-IN" smtClean="0"/>
              <a:t>19-06-2026</a:t>
            </a:fld>
            <a:endParaRPr lang="en-IN"/>
          </a:p>
        </p:txBody>
      </p:sp>
      <p:sp>
        <p:nvSpPr>
          <p:cNvPr id="5" name="Footer Placeholder 4">
            <a:extLst>
              <a:ext uri="{FF2B5EF4-FFF2-40B4-BE49-F238E27FC236}">
                <a16:creationId xmlns:a16="http://schemas.microsoft.com/office/drawing/2014/main" id="{47FCB028-C7E3-3A07-49FC-E9A28AC135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99ACE20-A5DF-88CA-EA81-EE28D6FD92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587E24-E9F5-49D5-877D-7647ED7098D5}" type="slidenum">
              <a:rPr lang="en-IN" smtClean="0"/>
              <a:t>‹#›</a:t>
            </a:fld>
            <a:endParaRPr lang="en-IN"/>
          </a:p>
        </p:txBody>
      </p:sp>
    </p:spTree>
    <p:extLst>
      <p:ext uri="{BB962C8B-B14F-4D97-AF65-F5344CB8AC3E}">
        <p14:creationId xmlns:p14="http://schemas.microsoft.com/office/powerpoint/2010/main" val="2030732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4;p1">
            <a:extLst>
              <a:ext uri="{FF2B5EF4-FFF2-40B4-BE49-F238E27FC236}">
                <a16:creationId xmlns:a16="http://schemas.microsoft.com/office/drawing/2014/main" id="{3F236201-F338-4EED-8215-09EE962C4F29}"/>
              </a:ext>
            </a:extLst>
          </p:cNvPr>
          <p:cNvSpPr/>
          <p:nvPr/>
        </p:nvSpPr>
        <p:spPr>
          <a:xfrm>
            <a:off x="1018095" y="0"/>
            <a:ext cx="10086680"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a:solidFill>
                  <a:schemeClr val="lt1"/>
                </a:solidFill>
                <a:latin typeface="Calibri" panose="020F0502020204030204" pitchFamily="34" charset="0"/>
                <a:ea typeface="Calibri" panose="020F0502020204030204" pitchFamily="34" charset="0"/>
                <a:cs typeface="Calibri" panose="020F0502020204030204" pitchFamily="34" charset="0"/>
                <a:sym typeface="Arial"/>
              </a:rPr>
              <a:t>AAI-510 Group 2 Project</a:t>
            </a:r>
            <a:endParaRP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chemeClr val="lt1"/>
              </a:solidFill>
              <a:latin typeface="Arial Black"/>
              <a:ea typeface="Arial Black"/>
              <a:cs typeface="Arial Black"/>
              <a:sym typeface="Arial Black"/>
            </a:endParaRPr>
          </a:p>
        </p:txBody>
      </p:sp>
      <p:sp>
        <p:nvSpPr>
          <p:cNvPr id="7" name="Google Shape;86;p1">
            <a:extLst>
              <a:ext uri="{FF2B5EF4-FFF2-40B4-BE49-F238E27FC236}">
                <a16:creationId xmlns:a16="http://schemas.microsoft.com/office/drawing/2014/main" id="{668EDFDD-5781-7320-D3FA-E431AFC4AE27}"/>
              </a:ext>
            </a:extLst>
          </p:cNvPr>
          <p:cNvSpPr/>
          <p:nvPr/>
        </p:nvSpPr>
        <p:spPr>
          <a:xfrm>
            <a:off x="1018095" y="992201"/>
            <a:ext cx="10086680"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4E7847F7-AD40-2395-EC75-4995714D211C}"/>
              </a:ext>
            </a:extLst>
          </p:cNvPr>
          <p:cNvSpPr/>
          <p:nvPr/>
        </p:nvSpPr>
        <p:spPr>
          <a:xfrm>
            <a:off x="1018095" y="6709833"/>
            <a:ext cx="10086680"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1" name="TextBox 10">
            <a:extLst>
              <a:ext uri="{FF2B5EF4-FFF2-40B4-BE49-F238E27FC236}">
                <a16:creationId xmlns:a16="http://schemas.microsoft.com/office/drawing/2014/main" id="{65923EC4-79D7-C325-27ED-8B597A0A157F}"/>
              </a:ext>
            </a:extLst>
          </p:cNvPr>
          <p:cNvSpPr txBox="1"/>
          <p:nvPr/>
        </p:nvSpPr>
        <p:spPr>
          <a:xfrm>
            <a:off x="1408385" y="1877411"/>
            <a:ext cx="9459311" cy="1200329"/>
          </a:xfrm>
          <a:prstGeom prst="rect">
            <a:avLst/>
          </a:prstGeom>
          <a:noFill/>
        </p:spPr>
        <p:txBody>
          <a:bodyPr wrap="square">
            <a:spAutoFit/>
          </a:bodyPr>
          <a:lstStyle/>
          <a:p>
            <a:pPr algn="ctr"/>
            <a:r>
              <a:rPr lang="en-IN" b="1" dirty="0"/>
              <a:t>A Hybrid Ensemble Framework for Intrusion Detection and Attack Classification Using Random Forest, Kernel PCA–K-Means, and XGBoost</a:t>
            </a:r>
            <a:endParaRPr lang="en-IN" dirty="0"/>
          </a:p>
          <a:p>
            <a:pPr>
              <a:buNone/>
            </a:pPr>
            <a:br>
              <a:rPr lang="en-IN" dirty="0"/>
            </a:br>
            <a:endParaRPr lang="en-IN" dirty="0"/>
          </a:p>
        </p:txBody>
      </p:sp>
      <p:sp>
        <p:nvSpPr>
          <p:cNvPr id="17" name="TextBox 16">
            <a:extLst>
              <a:ext uri="{FF2B5EF4-FFF2-40B4-BE49-F238E27FC236}">
                <a16:creationId xmlns:a16="http://schemas.microsoft.com/office/drawing/2014/main" id="{30094310-0716-9D8F-CEAD-79363C64C6C2}"/>
              </a:ext>
            </a:extLst>
          </p:cNvPr>
          <p:cNvSpPr txBox="1"/>
          <p:nvPr/>
        </p:nvSpPr>
        <p:spPr>
          <a:xfrm>
            <a:off x="2060589" y="3264729"/>
            <a:ext cx="8001692" cy="2431435"/>
          </a:xfrm>
          <a:prstGeom prst="rect">
            <a:avLst/>
          </a:prstGeom>
          <a:noFill/>
        </p:spPr>
        <p:txBody>
          <a:bodyPr wrap="square">
            <a:spAutoFit/>
          </a:bodyPr>
          <a:lstStyle/>
          <a:p>
            <a:pPr marL="285750" indent="-285750" algn="ctr" rtl="0">
              <a:buFont typeface="Arial" panose="020B0604020202020204" pitchFamily="34" charset="0"/>
              <a:buChar char="•"/>
            </a:pPr>
            <a:r>
              <a:rPr lang="en-IN" sz="2000" b="0" i="0" u="none" strike="noStrike" dirty="0">
                <a:effectLst/>
                <a:latin typeface="Calibri" panose="020F0502020204030204" pitchFamily="34" charset="0"/>
                <a:ea typeface="Calibri" panose="020F0502020204030204" pitchFamily="34" charset="0"/>
                <a:cs typeface="Calibri" panose="020F0502020204030204" pitchFamily="34" charset="0"/>
              </a:rPr>
              <a:t>Kalyan Brata Majumder • Karthik Mekala • Kunal Gurtoo</a:t>
            </a:r>
          </a:p>
          <a:p>
            <a:pPr algn="ctr"/>
            <a:endParaRPr lang="en-US" sz="2000" b="0" i="0" u="none" strike="noStrike" cap="none" dirty="0">
              <a:latin typeface="Calibri" panose="020F0502020204030204" pitchFamily="34" charset="0"/>
              <a:ea typeface="Calibri" panose="020F0502020204030204" pitchFamily="34" charset="0"/>
              <a:cs typeface="Calibri" panose="020F0502020204030204" pitchFamily="34" charset="0"/>
              <a:sym typeface="Arial"/>
            </a:endParaRPr>
          </a:p>
          <a:p>
            <a:pPr algn="ctr"/>
            <a:endParaRPr lang="en-US" sz="2000" dirty="0">
              <a:latin typeface="Calibri" panose="020F0502020204030204" pitchFamily="34" charset="0"/>
              <a:ea typeface="Calibri" panose="020F0502020204030204" pitchFamily="34" charset="0"/>
              <a:cs typeface="Calibri" panose="020F0502020204030204" pitchFamily="34" charset="0"/>
              <a:sym typeface="Arial"/>
            </a:endParaRPr>
          </a:p>
          <a:p>
            <a:pPr algn="ctr"/>
            <a:r>
              <a:rPr lang="en-US" sz="2000" b="0" i="0" u="none" strike="noStrike" cap="none" dirty="0">
                <a:latin typeface="Calibri" panose="020F0502020204030204" pitchFamily="34" charset="0"/>
                <a:ea typeface="Calibri" panose="020F0502020204030204" pitchFamily="34" charset="0"/>
                <a:cs typeface="Calibri" panose="020F0502020204030204" pitchFamily="34" charset="0"/>
                <a:sym typeface="Arial"/>
              </a:rPr>
              <a:t>MS in Applied Artificial Intelligence</a:t>
            </a:r>
            <a:br>
              <a:rPr lang="en-US" sz="2000" b="0" i="0" u="none" strike="noStrike" cap="none" dirty="0">
                <a:latin typeface="Calibri" panose="020F0502020204030204" pitchFamily="34" charset="0"/>
                <a:ea typeface="Calibri" panose="020F0502020204030204" pitchFamily="34" charset="0"/>
                <a:cs typeface="Calibri" panose="020F0502020204030204" pitchFamily="34" charset="0"/>
                <a:sym typeface="Arial"/>
              </a:rPr>
            </a:br>
            <a:r>
              <a:rPr lang="en-US" sz="2000" b="0" i="0" u="none" strike="noStrike" cap="none" dirty="0">
                <a:latin typeface="Calibri" panose="020F0502020204030204" pitchFamily="34" charset="0"/>
                <a:ea typeface="Calibri" panose="020F0502020204030204" pitchFamily="34" charset="0"/>
                <a:cs typeface="Calibri" panose="020F0502020204030204" pitchFamily="34" charset="0"/>
                <a:sym typeface="Arial"/>
              </a:rPr>
              <a:t>University of San Diego</a:t>
            </a:r>
          </a:p>
          <a:p>
            <a:pPr algn="ctr" rtl="0">
              <a:buNone/>
            </a:pPr>
            <a:endParaRPr lang="en-IN" sz="16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en-IN" dirty="0"/>
            </a:br>
            <a:endParaRPr lang="en-IN" dirty="0"/>
          </a:p>
        </p:txBody>
      </p:sp>
    </p:spTree>
    <p:extLst>
      <p:ext uri="{BB962C8B-B14F-4D97-AF65-F5344CB8AC3E}">
        <p14:creationId xmlns:p14="http://schemas.microsoft.com/office/powerpoint/2010/main" val="1337140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4;p1">
            <a:extLst>
              <a:ext uri="{FF2B5EF4-FFF2-40B4-BE49-F238E27FC236}">
                <a16:creationId xmlns:a16="http://schemas.microsoft.com/office/drawing/2014/main" id="{3F236201-F338-4EED-8215-09EE962C4F29}"/>
              </a:ext>
            </a:extLst>
          </p:cNvPr>
          <p:cNvSpPr/>
          <p:nvPr/>
        </p:nvSpPr>
        <p:spPr>
          <a:xfrm>
            <a:off x="952106" y="0"/>
            <a:ext cx="10369485" cy="992201"/>
          </a:xfrm>
          <a:prstGeom prst="rect">
            <a:avLst/>
          </a:prstGeom>
          <a:solidFill>
            <a:srgbClr val="002469"/>
          </a:solidFill>
          <a:ln>
            <a:noFill/>
          </a:ln>
        </p:spPr>
        <p:txBody>
          <a:bodyPr spcFirstLastPara="1" wrap="square" lIns="19025" tIns="9525" rIns="19025" bIns="9500" anchor="ctr" anchorCtr="0">
            <a:noAutofit/>
          </a:bodyPr>
          <a:lstStyle/>
          <a:p>
            <a:pPr algn="ctr">
              <a:buClr>
                <a:srgbClr val="000000"/>
              </a:buClr>
              <a:buSzPts val="1800"/>
            </a:pPr>
            <a:endParaRPr lang="en-IN" sz="2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algn="ctr">
              <a:buClr>
                <a:srgbClr val="000000"/>
              </a:buClr>
              <a:buSzPts val="1800"/>
            </a:pPr>
            <a:r>
              <a:rPr lang="en-IN" sz="2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Industry Challenges : </a:t>
            </a:r>
            <a:r>
              <a:rPr lang="en-US" sz="2400" b="1" i="0" u="none" strike="noStrike" cap="none" dirty="0">
                <a:solidFill>
                  <a:schemeClr val="lt1"/>
                </a:solidFill>
                <a:latin typeface="Calibri" panose="020F0502020204030204" pitchFamily="34" charset="0"/>
                <a:ea typeface="Calibri" panose="020F0502020204030204" pitchFamily="34" charset="0"/>
                <a:cs typeface="Calibri" panose="020F0502020204030204" pitchFamily="34" charset="0"/>
                <a:sym typeface="Arial"/>
              </a:rPr>
              <a:t>Rising Cyber Threats</a:t>
            </a:r>
            <a:endParaRPr lang="en-IN" sz="24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chemeClr val="lt1"/>
              </a:solidFill>
              <a:latin typeface="Arial Black"/>
              <a:ea typeface="Arial Black"/>
              <a:cs typeface="Arial Black"/>
              <a:sym typeface="Arial Black"/>
            </a:endParaRPr>
          </a:p>
        </p:txBody>
      </p:sp>
      <p:sp>
        <p:nvSpPr>
          <p:cNvPr id="7" name="Google Shape;86;p1">
            <a:extLst>
              <a:ext uri="{FF2B5EF4-FFF2-40B4-BE49-F238E27FC236}">
                <a16:creationId xmlns:a16="http://schemas.microsoft.com/office/drawing/2014/main" id="{668EDFDD-5781-7320-D3FA-E431AFC4AE27}"/>
              </a:ext>
            </a:extLst>
          </p:cNvPr>
          <p:cNvSpPr/>
          <p:nvPr/>
        </p:nvSpPr>
        <p:spPr>
          <a:xfrm>
            <a:off x="952106" y="992201"/>
            <a:ext cx="10369484"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4E7847F7-AD40-2395-EC75-4995714D211C}"/>
              </a:ext>
            </a:extLst>
          </p:cNvPr>
          <p:cNvSpPr/>
          <p:nvPr/>
        </p:nvSpPr>
        <p:spPr>
          <a:xfrm>
            <a:off x="952105" y="6709833"/>
            <a:ext cx="10369483"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 name="TextBox 2">
            <a:extLst>
              <a:ext uri="{FF2B5EF4-FFF2-40B4-BE49-F238E27FC236}">
                <a16:creationId xmlns:a16="http://schemas.microsoft.com/office/drawing/2014/main" id="{A98CD012-FD66-8B2C-E269-59C8E8D3C477}"/>
              </a:ext>
            </a:extLst>
          </p:cNvPr>
          <p:cNvSpPr txBox="1"/>
          <p:nvPr/>
        </p:nvSpPr>
        <p:spPr>
          <a:xfrm>
            <a:off x="952105" y="1329646"/>
            <a:ext cx="4751108" cy="4231928"/>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Invisible Corporate Threats</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Enterprise networks generate millions of data packet events every minute</a:t>
            </a:r>
            <a:r>
              <a:rPr lang="en-IN" b="1"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Ransomware, stealth infiltrations, and brute force attacks happen in milliseconds.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Security operations </a:t>
            </a:r>
            <a:r>
              <a:rPr lang="en-IN" dirty="0" err="1">
                <a:latin typeface="Calibri" panose="020F0502020204030204" pitchFamily="34" charset="0"/>
                <a:ea typeface="Calibri" panose="020F0502020204030204" pitchFamily="34" charset="0"/>
                <a:cs typeface="Calibri" panose="020F0502020204030204" pitchFamily="34" charset="0"/>
              </a:rPr>
              <a:t>centers</a:t>
            </a:r>
            <a:r>
              <a:rPr lang="en-IN" dirty="0">
                <a:latin typeface="Calibri" panose="020F0502020204030204" pitchFamily="34" charset="0"/>
                <a:ea typeface="Calibri" panose="020F0502020204030204" pitchFamily="34" charset="0"/>
                <a:cs typeface="Calibri" panose="020F0502020204030204" pitchFamily="34" charset="0"/>
              </a:rPr>
              <a:t> are drowned in millions of unclassified, cryptic system alerts.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Move from simple firewalls to autonomous behavioural triage, identifying not just "attacks" but precise threat families.</a:t>
            </a:r>
            <a:br>
              <a:rPr lang="en-IN" sz="1700" dirty="0"/>
            </a:br>
            <a:endParaRPr lang="en-IN" sz="1700" dirty="0"/>
          </a:p>
        </p:txBody>
      </p:sp>
      <p:sp>
        <p:nvSpPr>
          <p:cNvPr id="10" name="TextBox 9">
            <a:extLst>
              <a:ext uri="{FF2B5EF4-FFF2-40B4-BE49-F238E27FC236}">
                <a16:creationId xmlns:a16="http://schemas.microsoft.com/office/drawing/2014/main" id="{260420C9-D6A5-782E-B0E6-57A7A18C5E57}"/>
              </a:ext>
            </a:extLst>
          </p:cNvPr>
          <p:cNvSpPr txBox="1"/>
          <p:nvPr/>
        </p:nvSpPr>
        <p:spPr>
          <a:xfrm>
            <a:off x="6136846" y="1329646"/>
            <a:ext cx="5184742" cy="5078313"/>
          </a:xfrm>
          <a:prstGeom prst="rect">
            <a:avLst/>
          </a:prstGeom>
          <a:noFill/>
        </p:spPr>
        <p:txBody>
          <a:bodyPr wrap="square">
            <a:spAutoFit/>
          </a:bodyPr>
          <a:lstStyle/>
          <a:p>
            <a:r>
              <a:rPr lang="en-IN" b="1" dirty="0">
                <a:solidFill>
                  <a:srgbClr val="0F172A"/>
                </a:solidFill>
                <a:latin typeface="Calibri" panose="020F0502020204030204" pitchFamily="34" charset="0"/>
                <a:ea typeface="Calibri" panose="020F0502020204030204" pitchFamily="34" charset="0"/>
                <a:cs typeface="Calibri" panose="020F0502020204030204" pitchFamily="34" charset="0"/>
              </a:rPr>
              <a:t>Why traditional network alerts fail</a:t>
            </a:r>
            <a:endParaRPr lang="en-IN" b="1" dirty="0">
              <a:effectLst/>
              <a:latin typeface="Calibri" panose="020F0502020204030204" pitchFamily="34" charset="0"/>
              <a:ea typeface="Calibri" panose="020F0502020204030204" pitchFamily="34" charset="0"/>
              <a:cs typeface="Calibri" panose="020F0502020204030204" pitchFamily="34" charset="0"/>
            </a:endParaRPr>
          </a:p>
          <a:p>
            <a:endParaRPr lang="en-IN" b="1" i="0" u="none" strike="noStrike" dirty="0">
              <a:effectLst/>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Traditional perimeter walls fail when user accidentally click malicious phishing links inside the network.</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Standard secure web traffic shields malicious payloads from basic inspection tools.</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Visibility remains restricted to outside entry points, leaving internal lateral threat movements completely unmonitored.</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Systems only look for historically known threats, meaning they remain entirely blind to novel, evolving attack variations.</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Complex configuration requirements create massive security gaps through simple human error.</a:t>
            </a:r>
          </a:p>
        </p:txBody>
      </p:sp>
    </p:spTree>
    <p:extLst>
      <p:ext uri="{BB962C8B-B14F-4D97-AF65-F5344CB8AC3E}">
        <p14:creationId xmlns:p14="http://schemas.microsoft.com/office/powerpoint/2010/main" val="1337140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F4E465-753F-47DF-D82E-2524FE99167E}"/>
              </a:ext>
            </a:extLst>
          </p:cNvPr>
          <p:cNvSpPr txBox="1"/>
          <p:nvPr/>
        </p:nvSpPr>
        <p:spPr>
          <a:xfrm>
            <a:off x="952106" y="1267114"/>
            <a:ext cx="10369485" cy="5078313"/>
          </a:xfrm>
          <a:prstGeom prst="rect">
            <a:avLst/>
          </a:prstGeom>
          <a:noFill/>
        </p:spPr>
        <p:txBody>
          <a:bodyPr wrap="square">
            <a:spAutoFit/>
          </a:bodyPr>
          <a:lstStyle/>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Detection of Unknown Attacks </a:t>
            </a:r>
            <a:r>
              <a:rPr lang="en-IN" dirty="0">
                <a:latin typeface="Calibri" panose="020F0502020204030204" pitchFamily="34" charset="0"/>
                <a:ea typeface="Calibri" panose="020F0502020204030204" pitchFamily="34" charset="0"/>
                <a:cs typeface="Calibri" panose="020F0502020204030204" pitchFamily="34" charset="0"/>
              </a:rPr>
              <a:t>: Unlike firewalls that rely on predefined rules and signatures, the hybrid model can identify anomalous traffic patterns that may indicate previously unseen attacks.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Attack Categorization </a:t>
            </a:r>
            <a:r>
              <a:rPr lang="en-IN" dirty="0">
                <a:latin typeface="Calibri" panose="020F0502020204030204" pitchFamily="34" charset="0"/>
                <a:ea typeface="Calibri" panose="020F0502020204030204" pitchFamily="34" charset="0"/>
                <a:cs typeface="Calibri" panose="020F0502020204030204" pitchFamily="34" charset="0"/>
              </a:rPr>
              <a:t>: The proposed system not only detects malicious traffic but also predicts the likely attack category, providing additional threat intelligence for security teams.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Behavioural Analysis </a:t>
            </a:r>
            <a:r>
              <a:rPr lang="en-IN" dirty="0">
                <a:latin typeface="Calibri" panose="020F0502020204030204" pitchFamily="34" charset="0"/>
                <a:ea typeface="Calibri" panose="020F0502020204030204" pitchFamily="34" charset="0"/>
                <a:cs typeface="Calibri" panose="020F0502020204030204" pitchFamily="34" charset="0"/>
              </a:rPr>
              <a:t>: The model analyses network flow characteristics and traffic behavior rather than relying solely on packet filtering rules.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Multi-Layer Intelligence </a:t>
            </a:r>
            <a:r>
              <a:rPr lang="en-IN" dirty="0">
                <a:latin typeface="Calibri" panose="020F0502020204030204" pitchFamily="34" charset="0"/>
                <a:ea typeface="Calibri" panose="020F0502020204030204" pitchFamily="34" charset="0"/>
                <a:cs typeface="Calibri" panose="020F0502020204030204" pitchFamily="34" charset="0"/>
              </a:rPr>
              <a:t>: By combining Binary Random Forest predictions, Attack-type probabilities, Kernel PCA + K-Means clustering  features and XGBoost ensemble learning the system makes decisions using multiple complementary perspectives.</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Reduced False Alarms </a:t>
            </a:r>
            <a:r>
              <a:rPr lang="en-IN" dirty="0">
                <a:latin typeface="Calibri" panose="020F0502020204030204" pitchFamily="34" charset="0"/>
                <a:ea typeface="Calibri" panose="020F0502020204030204" pitchFamily="34" charset="0"/>
                <a:cs typeface="Calibri" panose="020F0502020204030204" pitchFamily="34" charset="0"/>
              </a:rPr>
              <a:t>: The ensemble architecture improves decision quality by combining supervised and unsupervised signals, reducing reliance on a single detection mechanism.</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Adaptability</a:t>
            </a:r>
            <a:r>
              <a:rPr lang="en-IN" dirty="0">
                <a:latin typeface="Calibri" panose="020F0502020204030204" pitchFamily="34" charset="0"/>
                <a:ea typeface="Calibri" panose="020F0502020204030204" pitchFamily="34" charset="0"/>
                <a:cs typeface="Calibri" panose="020F0502020204030204" pitchFamily="34" charset="0"/>
              </a:rPr>
              <a:t> : The model can be retrained with new traffic data, allowing it to adapt to evolving attack techniques and changing network environments.</a:t>
            </a:r>
          </a:p>
        </p:txBody>
      </p:sp>
      <p:sp>
        <p:nvSpPr>
          <p:cNvPr id="5" name="Google Shape;84;p1">
            <a:extLst>
              <a:ext uri="{FF2B5EF4-FFF2-40B4-BE49-F238E27FC236}">
                <a16:creationId xmlns:a16="http://schemas.microsoft.com/office/drawing/2014/main" id="{8BB120B6-F89C-7F08-8590-DF14085583E6}"/>
              </a:ext>
            </a:extLst>
          </p:cNvPr>
          <p:cNvSpPr/>
          <p:nvPr/>
        </p:nvSpPr>
        <p:spPr>
          <a:xfrm>
            <a:off x="952106" y="0"/>
            <a:ext cx="10369485" cy="992201"/>
          </a:xfrm>
          <a:prstGeom prst="rect">
            <a:avLst/>
          </a:prstGeom>
          <a:solidFill>
            <a:srgbClr val="002469"/>
          </a:solidFill>
          <a:ln>
            <a:noFill/>
          </a:ln>
        </p:spPr>
        <p:txBody>
          <a:bodyPr spcFirstLastPara="1" wrap="square" lIns="19025" tIns="9525" rIns="19025" bIns="9500" anchor="ctr" anchorCtr="0">
            <a:noAutofit/>
          </a:bodyPr>
          <a:lstStyle/>
          <a:p>
            <a:pPr algn="ctr">
              <a:buClr>
                <a:srgbClr val="000000"/>
              </a:buClr>
              <a:buSzPts val="1800"/>
            </a:pPr>
            <a:endParaRPr lang="en-IN" sz="2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algn="ctr">
              <a:buClr>
                <a:srgbClr val="000000"/>
              </a:buClr>
              <a:buSzPts val="1800"/>
            </a:pPr>
            <a:r>
              <a:rPr lang="en-IN" sz="2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Advantages of </a:t>
            </a: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o</a:t>
            </a:r>
            <a:r>
              <a:rPr lang="en-IN" sz="2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ur Model</a:t>
            </a:r>
            <a:endParaRPr lang="en-IN" sz="24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chemeClr val="lt1"/>
              </a:solidFill>
              <a:latin typeface="Arial Black"/>
              <a:ea typeface="Arial Black"/>
              <a:cs typeface="Arial Black"/>
              <a:sym typeface="Arial Black"/>
            </a:endParaRPr>
          </a:p>
        </p:txBody>
      </p:sp>
    </p:spTree>
    <p:extLst>
      <p:ext uri="{BB962C8B-B14F-4D97-AF65-F5344CB8AC3E}">
        <p14:creationId xmlns:p14="http://schemas.microsoft.com/office/powerpoint/2010/main" val="1947368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4;p1">
            <a:extLst>
              <a:ext uri="{FF2B5EF4-FFF2-40B4-BE49-F238E27FC236}">
                <a16:creationId xmlns:a16="http://schemas.microsoft.com/office/drawing/2014/main" id="{528DC637-BE0E-63AE-AC1E-07EE6929BD84}"/>
              </a:ext>
            </a:extLst>
          </p:cNvPr>
          <p:cNvSpPr/>
          <p:nvPr/>
        </p:nvSpPr>
        <p:spPr>
          <a:xfrm>
            <a:off x="980388" y="0"/>
            <a:ext cx="10350631" cy="992201"/>
          </a:xfrm>
          <a:prstGeom prst="rect">
            <a:avLst/>
          </a:prstGeom>
          <a:solidFill>
            <a:srgbClr val="002469"/>
          </a:solidFill>
          <a:ln>
            <a:noFill/>
          </a:ln>
        </p:spPr>
        <p:txBody>
          <a:bodyPr spcFirstLastPara="1" wrap="square" lIns="19025" tIns="9525" rIns="19025" bIns="9500" anchor="ctr" anchorCtr="0">
            <a:noAutofit/>
          </a:bodyPr>
          <a:lstStyle/>
          <a:p>
            <a:pPr lvl="0" algn="ctr">
              <a:buClr>
                <a:srgbClr val="000000"/>
              </a:buClr>
              <a:buSzPts val="1800"/>
            </a:pP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Our Strategic Objective and Unified Defence Funnel </a:t>
            </a:r>
            <a:endParaRPr sz="24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Black"/>
            </a:endParaRPr>
          </a:p>
        </p:txBody>
      </p:sp>
      <p:sp>
        <p:nvSpPr>
          <p:cNvPr id="5" name="Google Shape;86;p1">
            <a:extLst>
              <a:ext uri="{FF2B5EF4-FFF2-40B4-BE49-F238E27FC236}">
                <a16:creationId xmlns:a16="http://schemas.microsoft.com/office/drawing/2014/main" id="{951D998D-4F9D-BE1E-982C-9530EA84F765}"/>
              </a:ext>
            </a:extLst>
          </p:cNvPr>
          <p:cNvSpPr/>
          <p:nvPr/>
        </p:nvSpPr>
        <p:spPr>
          <a:xfrm>
            <a:off x="980387" y="992201"/>
            <a:ext cx="10350631" cy="98055"/>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7" name="Google Shape;86;p1">
            <a:extLst>
              <a:ext uri="{FF2B5EF4-FFF2-40B4-BE49-F238E27FC236}">
                <a16:creationId xmlns:a16="http://schemas.microsoft.com/office/drawing/2014/main" id="{0F2CE138-4A1E-B095-E07D-D3DB530201E5}"/>
              </a:ext>
            </a:extLst>
          </p:cNvPr>
          <p:cNvSpPr/>
          <p:nvPr/>
        </p:nvSpPr>
        <p:spPr>
          <a:xfrm>
            <a:off x="980387" y="6709833"/>
            <a:ext cx="10350631"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0" name="Picture 9">
            <a:extLst>
              <a:ext uri="{FF2B5EF4-FFF2-40B4-BE49-F238E27FC236}">
                <a16:creationId xmlns:a16="http://schemas.microsoft.com/office/drawing/2014/main" id="{9EF74D48-CD3F-06EA-77E0-2F049AB165DC}"/>
              </a:ext>
            </a:extLst>
          </p:cNvPr>
          <p:cNvPicPr>
            <a:picLocks noChangeAspect="1"/>
          </p:cNvPicPr>
          <p:nvPr/>
        </p:nvPicPr>
        <p:blipFill>
          <a:blip r:embed="rId3"/>
          <a:stretch>
            <a:fillRect/>
          </a:stretch>
        </p:blipFill>
        <p:spPr>
          <a:xfrm>
            <a:off x="223642" y="1462590"/>
            <a:ext cx="6401129" cy="4597636"/>
          </a:xfrm>
          <a:prstGeom prst="rect">
            <a:avLst/>
          </a:prstGeom>
        </p:spPr>
      </p:pic>
      <p:sp>
        <p:nvSpPr>
          <p:cNvPr id="14" name="TextBox 13">
            <a:extLst>
              <a:ext uri="{FF2B5EF4-FFF2-40B4-BE49-F238E27FC236}">
                <a16:creationId xmlns:a16="http://schemas.microsoft.com/office/drawing/2014/main" id="{8E3733B5-0F09-9249-784E-98EA449974AF}"/>
              </a:ext>
            </a:extLst>
          </p:cNvPr>
          <p:cNvSpPr txBox="1"/>
          <p:nvPr/>
        </p:nvSpPr>
        <p:spPr>
          <a:xfrm>
            <a:off x="6624771" y="1462590"/>
            <a:ext cx="5343587" cy="4801314"/>
          </a:xfrm>
          <a:prstGeom prst="rect">
            <a:avLst/>
          </a:prstGeom>
          <a:noFill/>
        </p:spPr>
        <p:txBody>
          <a:bodyPr wrap="square">
            <a:spAutoFit/>
          </a:bodyPr>
          <a:lstStyle/>
          <a:p>
            <a:pPr>
              <a:buNone/>
            </a:pPr>
            <a:r>
              <a:rPr lang="en-IN" sz="1800" b="1" dirty="0">
                <a:effectLst/>
                <a:latin typeface="Calibri" panose="020F0502020204030204" pitchFamily="34" charset="0"/>
                <a:ea typeface="Calibri" panose="020F0502020204030204" pitchFamily="34" charset="0"/>
                <a:cs typeface="Calibri" panose="020F0502020204030204" pitchFamily="34" charset="0"/>
              </a:rPr>
              <a:t>Strategic Objective:</a:t>
            </a:r>
            <a:r>
              <a:rPr lang="en-IN" sz="1800" dirty="0">
                <a:effectLst/>
                <a:latin typeface="Calibri" panose="020F0502020204030204" pitchFamily="34" charset="0"/>
                <a:ea typeface="Calibri" panose="020F0502020204030204" pitchFamily="34" charset="0"/>
                <a:cs typeface="Calibri" panose="020F0502020204030204" pitchFamily="34" charset="0"/>
              </a:rPr>
              <a:t> Build an autonomous security system that instantly identifies whether a network flow is malicious and precisely attributes the specific threat family.</a:t>
            </a:r>
          </a:p>
          <a:p>
            <a:pPr>
              <a:buNone/>
            </a:pP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pPr>
              <a:buNone/>
            </a:pPr>
            <a:r>
              <a:rPr lang="en-IN" sz="1800" b="1" dirty="0">
                <a:effectLst/>
                <a:latin typeface="Calibri" panose="020F0502020204030204" pitchFamily="34" charset="0"/>
                <a:ea typeface="Calibri" panose="020F0502020204030204" pitchFamily="34" charset="0"/>
                <a:cs typeface="Calibri" panose="020F0502020204030204" pitchFamily="34" charset="0"/>
              </a:rPr>
              <a:t>Layer One Supervised Detection:</a:t>
            </a:r>
            <a:r>
              <a:rPr lang="en-IN" sz="1800" dirty="0">
                <a:effectLst/>
                <a:latin typeface="Calibri" panose="020F0502020204030204" pitchFamily="34" charset="0"/>
                <a:ea typeface="Calibri" panose="020F0502020204030204" pitchFamily="34" charset="0"/>
                <a:cs typeface="Calibri" panose="020F0502020204030204" pitchFamily="34" charset="0"/>
              </a:rPr>
              <a:t> Model One performs rapid binary identification to separate benign and attack traffic. </a:t>
            </a:r>
          </a:p>
          <a:p>
            <a:pPr>
              <a:buNone/>
            </a:pP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pPr>
              <a:buNone/>
            </a:pPr>
            <a:r>
              <a:rPr lang="en-IN" sz="1800" b="1" dirty="0">
                <a:effectLst/>
                <a:latin typeface="Calibri" panose="020F0502020204030204" pitchFamily="34" charset="0"/>
                <a:ea typeface="Calibri" panose="020F0502020204030204" pitchFamily="34" charset="0"/>
                <a:cs typeface="Calibri" panose="020F0502020204030204" pitchFamily="34" charset="0"/>
              </a:rPr>
              <a:t>Layer Two Behavioural Discovery:</a:t>
            </a:r>
            <a:r>
              <a:rPr lang="en-IN" sz="1800" dirty="0">
                <a:effectLst/>
                <a:latin typeface="Calibri" panose="020F0502020204030204" pitchFamily="34" charset="0"/>
                <a:ea typeface="Calibri" panose="020F0502020204030204" pitchFamily="34" charset="0"/>
                <a:cs typeface="Calibri" panose="020F0502020204030204" pitchFamily="34" charset="0"/>
              </a:rPr>
              <a:t> Model Two acts as an unsupervised behavioural tracking system to spot hidden or unlearned anomalies by grouping traffic structures.</a:t>
            </a:r>
          </a:p>
          <a:p>
            <a:pPr>
              <a:buNone/>
            </a:pP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pPr>
              <a:buNone/>
            </a:pPr>
            <a:r>
              <a:rPr lang="en-IN" sz="1800" b="1" dirty="0">
                <a:effectLst/>
                <a:latin typeface="Calibri" panose="020F0502020204030204" pitchFamily="34" charset="0"/>
                <a:ea typeface="Calibri" panose="020F0502020204030204" pitchFamily="34" charset="0"/>
                <a:cs typeface="Calibri" panose="020F0502020204030204" pitchFamily="34" charset="0"/>
              </a:rPr>
              <a:t>Layer Three Deep Triage:</a:t>
            </a:r>
            <a:r>
              <a:rPr lang="en-IN" sz="1800" dirty="0">
                <a:effectLst/>
                <a:latin typeface="Calibri" panose="020F0502020204030204" pitchFamily="34" charset="0"/>
                <a:ea typeface="Calibri" panose="020F0502020204030204" pitchFamily="34" charset="0"/>
                <a:cs typeface="Calibri" panose="020F0502020204030204" pitchFamily="34" charset="0"/>
              </a:rPr>
              <a:t> Model One A assigns exact risk confidence profiles across our consolidated threat categories.</a:t>
            </a:r>
          </a:p>
        </p:txBody>
      </p:sp>
    </p:spTree>
    <p:extLst>
      <p:ext uri="{BB962C8B-B14F-4D97-AF65-F5344CB8AC3E}">
        <p14:creationId xmlns:p14="http://schemas.microsoft.com/office/powerpoint/2010/main" val="2250955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4;p1">
            <a:extLst>
              <a:ext uri="{FF2B5EF4-FFF2-40B4-BE49-F238E27FC236}">
                <a16:creationId xmlns:a16="http://schemas.microsoft.com/office/drawing/2014/main" id="{3F236201-F338-4EED-8215-09EE962C4F29}"/>
              </a:ext>
            </a:extLst>
          </p:cNvPr>
          <p:cNvSpPr/>
          <p:nvPr/>
        </p:nvSpPr>
        <p:spPr>
          <a:xfrm>
            <a:off x="858982" y="0"/>
            <a:ext cx="10547927" cy="992201"/>
          </a:xfrm>
          <a:prstGeom prst="rect">
            <a:avLst/>
          </a:prstGeom>
          <a:solidFill>
            <a:srgbClr val="002469"/>
          </a:solidFill>
          <a:ln>
            <a:noFill/>
          </a:ln>
        </p:spPr>
        <p:txBody>
          <a:bodyPr spcFirstLastPara="1" wrap="square" lIns="19025" tIns="9525" rIns="19025" bIns="9500" anchor="ctr" anchorCtr="0">
            <a:noAutofit/>
          </a:bodyPr>
          <a:lstStyle/>
          <a:p>
            <a:pPr lvl="0" algn="ctr">
              <a:buClr>
                <a:srgbClr val="000000"/>
              </a:buClr>
              <a:buSzPts val="1800"/>
            </a:pP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Consolidating Alert</a:t>
            </a:r>
            <a:endParaRPr sz="24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Black"/>
            </a:endParaRPr>
          </a:p>
        </p:txBody>
      </p:sp>
      <p:sp>
        <p:nvSpPr>
          <p:cNvPr id="7" name="Google Shape;86;p1">
            <a:extLst>
              <a:ext uri="{FF2B5EF4-FFF2-40B4-BE49-F238E27FC236}">
                <a16:creationId xmlns:a16="http://schemas.microsoft.com/office/drawing/2014/main" id="{668EDFDD-5781-7320-D3FA-E431AFC4AE27}"/>
              </a:ext>
            </a:extLst>
          </p:cNvPr>
          <p:cNvSpPr/>
          <p:nvPr/>
        </p:nvSpPr>
        <p:spPr>
          <a:xfrm>
            <a:off x="858982" y="992201"/>
            <a:ext cx="10547926"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4E7847F7-AD40-2395-EC75-4995714D211C}"/>
              </a:ext>
            </a:extLst>
          </p:cNvPr>
          <p:cNvSpPr/>
          <p:nvPr/>
        </p:nvSpPr>
        <p:spPr>
          <a:xfrm>
            <a:off x="858982" y="6709833"/>
            <a:ext cx="10547926"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 name="TextBox 2">
            <a:extLst>
              <a:ext uri="{FF2B5EF4-FFF2-40B4-BE49-F238E27FC236}">
                <a16:creationId xmlns:a16="http://schemas.microsoft.com/office/drawing/2014/main" id="{40C55DB5-8849-30F9-F975-2EE5A3479970}"/>
              </a:ext>
            </a:extLst>
          </p:cNvPr>
          <p:cNvSpPr txBox="1"/>
          <p:nvPr/>
        </p:nvSpPr>
        <p:spPr>
          <a:xfrm>
            <a:off x="858982" y="1520937"/>
            <a:ext cx="5352633" cy="5262979"/>
          </a:xfrm>
          <a:prstGeom prst="rect">
            <a:avLst/>
          </a:prstGeom>
          <a:noFill/>
        </p:spPr>
        <p:txBody>
          <a:bodyPr wrap="square">
            <a:spAutoFit/>
          </a:bodyPr>
          <a:lstStyle/>
          <a:p>
            <a:pPr marL="342900" indent="-342900" rtl="0">
              <a:buFont typeface="Arial" panose="020B0604020202020204" pitchFamily="34" charset="0"/>
              <a:buChar char="•"/>
            </a:pPr>
            <a:r>
              <a:rPr lang="en-IN" sz="2000" b="0" i="0" u="none" strike="noStrike" dirty="0">
                <a:effectLst/>
                <a:latin typeface="Calibri" panose="020F0502020204030204" pitchFamily="34" charset="0"/>
                <a:ea typeface="Calibri" panose="020F0502020204030204" pitchFamily="34" charset="0"/>
                <a:cs typeface="Calibri" panose="020F0502020204030204" pitchFamily="34" charset="0"/>
              </a:rPr>
              <a:t>Evaluated a massive enterprise benchmark dataset containing over 2.8 million individual network records.</a:t>
            </a:r>
          </a:p>
          <a:p>
            <a:pPr marL="342900" indent="-342900" rtl="0">
              <a:buFont typeface="Arial" panose="020B0604020202020204" pitchFamily="34" charset="0"/>
              <a:buChar char="•"/>
            </a:pPr>
            <a:endParaRPr lang="en-IN" sz="2000" b="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rtl="0">
              <a:buFont typeface="Arial" panose="020B0604020202020204" pitchFamily="34" charset="0"/>
              <a:buChar char="•"/>
            </a:pPr>
            <a:r>
              <a:rPr lang="en-IN" sz="2000" b="0" i="0" u="none" strike="noStrike" dirty="0">
                <a:effectLst/>
                <a:latin typeface="Calibri" panose="020F0502020204030204" pitchFamily="34" charset="0"/>
                <a:ea typeface="Calibri" panose="020F0502020204030204" pitchFamily="34" charset="0"/>
                <a:cs typeface="Calibri" panose="020F0502020204030204" pitchFamily="34" charset="0"/>
              </a:rPr>
              <a:t>Normal Day to Day Operations: Comprises 80.31 percent of the footprint with 2,268,589 safe connections.</a:t>
            </a:r>
          </a:p>
          <a:p>
            <a:pPr marL="342900" indent="-342900" rtl="0">
              <a:buFont typeface="Arial" panose="020B0604020202020204" pitchFamily="34" charset="0"/>
              <a:buChar char="•"/>
            </a:pPr>
            <a:endParaRPr lang="en-IN" sz="2000" b="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rtl="0">
              <a:buFont typeface="Arial" panose="020B0604020202020204" pitchFamily="34" charset="0"/>
              <a:buChar char="•"/>
            </a:pPr>
            <a:r>
              <a:rPr lang="en-IN" sz="2000" b="0" i="0" u="none" strike="noStrike" dirty="0">
                <a:effectLst/>
                <a:latin typeface="Calibri" panose="020F0502020204030204" pitchFamily="34" charset="0"/>
                <a:ea typeface="Calibri" panose="020F0502020204030204" pitchFamily="34" charset="0"/>
                <a:cs typeface="Calibri" panose="020F0502020204030204" pitchFamily="34" charset="0"/>
              </a:rPr>
              <a:t>Digital Flooding Traffic: Comprises 13.44 percent of the volume with 379,554 resource draining incidents.</a:t>
            </a:r>
          </a:p>
          <a:p>
            <a:pPr marL="342900" indent="-342900" rtl="0">
              <a:buFont typeface="Arial" panose="020B0604020202020204" pitchFamily="34" charset="0"/>
              <a:buChar char="•"/>
            </a:pPr>
            <a:endParaRPr lang="en-IN" sz="2000" b="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rtl="0">
              <a:buFont typeface="Arial" panose="020B0604020202020204" pitchFamily="34" charset="0"/>
              <a:buChar char="•"/>
            </a:pPr>
            <a:r>
              <a:rPr lang="en-IN" sz="2000" b="0" i="0" u="none" strike="noStrike" dirty="0">
                <a:effectLst/>
                <a:latin typeface="Calibri" panose="020F0502020204030204" pitchFamily="34" charset="0"/>
                <a:ea typeface="Calibri" panose="020F0502020204030204" pitchFamily="34" charset="0"/>
                <a:cs typeface="Calibri" panose="020F0502020204030204" pitchFamily="34" charset="0"/>
              </a:rPr>
              <a:t>The Minority Threat Challenge: Severe data imbalance exists, with critical web exploits making up less than 1 percent of raw files.</a:t>
            </a:r>
            <a:endParaRPr lang="en-IN" sz="20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en-IN" dirty="0"/>
            </a:br>
            <a:endParaRPr lang="en-IN" dirty="0"/>
          </a:p>
        </p:txBody>
      </p:sp>
      <p:pic>
        <p:nvPicPr>
          <p:cNvPr id="4" name="Picture 3">
            <a:extLst>
              <a:ext uri="{FF2B5EF4-FFF2-40B4-BE49-F238E27FC236}">
                <a16:creationId xmlns:a16="http://schemas.microsoft.com/office/drawing/2014/main" id="{B8F6B5B7-626D-7D14-CA79-45E042C7C997}"/>
              </a:ext>
            </a:extLst>
          </p:cNvPr>
          <p:cNvPicPr>
            <a:picLocks noChangeAspect="1"/>
          </p:cNvPicPr>
          <p:nvPr/>
        </p:nvPicPr>
        <p:blipFill>
          <a:blip r:embed="rId3"/>
          <a:stretch>
            <a:fillRect/>
          </a:stretch>
        </p:blipFill>
        <p:spPr>
          <a:xfrm>
            <a:off x="6418953" y="1219527"/>
            <a:ext cx="5583943" cy="5262979"/>
          </a:xfrm>
          <a:prstGeom prst="rect">
            <a:avLst/>
          </a:prstGeom>
        </p:spPr>
      </p:pic>
    </p:spTree>
    <p:extLst>
      <p:ext uri="{BB962C8B-B14F-4D97-AF65-F5344CB8AC3E}">
        <p14:creationId xmlns:p14="http://schemas.microsoft.com/office/powerpoint/2010/main" val="1337140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4;p1">
            <a:extLst>
              <a:ext uri="{FF2B5EF4-FFF2-40B4-BE49-F238E27FC236}">
                <a16:creationId xmlns:a16="http://schemas.microsoft.com/office/drawing/2014/main" id="{3F236201-F338-4EED-8215-09EE962C4F29}"/>
              </a:ext>
            </a:extLst>
          </p:cNvPr>
          <p:cNvSpPr/>
          <p:nvPr/>
        </p:nvSpPr>
        <p:spPr>
          <a:xfrm>
            <a:off x="1115123" y="0"/>
            <a:ext cx="10192214" cy="992201"/>
          </a:xfrm>
          <a:prstGeom prst="rect">
            <a:avLst/>
          </a:prstGeom>
          <a:solidFill>
            <a:srgbClr val="002469"/>
          </a:solidFill>
          <a:ln>
            <a:noFill/>
          </a:ln>
        </p:spPr>
        <p:txBody>
          <a:bodyPr spcFirstLastPara="1" wrap="square" lIns="19025" tIns="9525" rIns="19025" bIns="9500" anchor="ctr" anchorCtr="0">
            <a:noAutofit/>
          </a:bodyPr>
          <a:lstStyle/>
          <a:p>
            <a:pPr algn="ctr"/>
            <a:endPar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Streamlining Threat Definitions</a:t>
            </a:r>
            <a:endParaRPr lang="en-IN" sz="24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br>
              <a:rPr lang="en-IN" dirty="0"/>
            </a:br>
            <a:endParaRPr sz="1600" b="1" i="0" u="none" strike="noStrike" cap="none" dirty="0">
              <a:solidFill>
                <a:schemeClr val="lt1"/>
              </a:solidFill>
              <a:latin typeface="Arial Black"/>
              <a:ea typeface="Arial Black"/>
              <a:cs typeface="Arial Black"/>
              <a:sym typeface="Arial Black"/>
            </a:endParaRPr>
          </a:p>
        </p:txBody>
      </p:sp>
      <p:sp>
        <p:nvSpPr>
          <p:cNvPr id="7" name="Google Shape;86;p1">
            <a:extLst>
              <a:ext uri="{FF2B5EF4-FFF2-40B4-BE49-F238E27FC236}">
                <a16:creationId xmlns:a16="http://schemas.microsoft.com/office/drawing/2014/main" id="{668EDFDD-5781-7320-D3FA-E431AFC4AE27}"/>
              </a:ext>
            </a:extLst>
          </p:cNvPr>
          <p:cNvSpPr/>
          <p:nvPr/>
        </p:nvSpPr>
        <p:spPr>
          <a:xfrm>
            <a:off x="1115123" y="995770"/>
            <a:ext cx="10192214"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4E7847F7-AD40-2395-EC75-4995714D211C}"/>
              </a:ext>
            </a:extLst>
          </p:cNvPr>
          <p:cNvSpPr/>
          <p:nvPr/>
        </p:nvSpPr>
        <p:spPr>
          <a:xfrm>
            <a:off x="1115122" y="6709833"/>
            <a:ext cx="10192213"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 name="TextBox 2">
            <a:extLst>
              <a:ext uri="{FF2B5EF4-FFF2-40B4-BE49-F238E27FC236}">
                <a16:creationId xmlns:a16="http://schemas.microsoft.com/office/drawing/2014/main" id="{6B0B2516-F612-B990-3A7F-9DC529BF607A}"/>
              </a:ext>
            </a:extLst>
          </p:cNvPr>
          <p:cNvSpPr txBox="1"/>
          <p:nvPr/>
        </p:nvSpPr>
        <p:spPr>
          <a:xfrm>
            <a:off x="1115121" y="1479784"/>
            <a:ext cx="10192213" cy="4524315"/>
          </a:xfrm>
          <a:prstGeom prst="rect">
            <a:avLst/>
          </a:prstGeom>
          <a:noFill/>
        </p:spPr>
        <p:txBody>
          <a:bodyPr wrap="square">
            <a:spAutoFit/>
          </a:bodyPr>
          <a:lstStyle/>
          <a:p>
            <a:pPr marL="285750" indent="-285750">
              <a:buFont typeface="Arial" panose="020B0604020202020204" pitchFamily="34" charset="0"/>
              <a:buChar char="•"/>
            </a:pPr>
            <a:r>
              <a:rPr lang="en-IN" dirty="0"/>
              <a:t>Raw network logs contain fifteen highly fragmented technical signatures that cause intense security analyst fatigue.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We streamlined our </a:t>
            </a:r>
            <a:r>
              <a:rPr lang="en-IN" dirty="0" err="1"/>
              <a:t>defense</a:t>
            </a:r>
            <a:r>
              <a:rPr lang="en-IN" dirty="0"/>
              <a:t> network by consolidating these chaotic signatures into five broad corporate attack families.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Digital Flooding (DoS and DDoS):</a:t>
            </a:r>
            <a:r>
              <a:rPr lang="en-IN" dirty="0"/>
              <a:t> Dominates the threat volume, accounting for 13.44 percent of total enterprise traffic.</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Targeted Exploits:</a:t>
            </a:r>
            <a:r>
              <a:rPr lang="en-IN" dirty="0"/>
              <a:t> Reconnaissance Probing covers 5.62 percent, Credential Theft covers 0.54 percent, Malicious Takeovers cover 0.07 percent, and Web Fraud sits at a rare 0.02 percent.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The Gateway to Model 1A:</a:t>
            </a:r>
            <a:r>
              <a:rPr lang="en-IN" dirty="0"/>
              <a:t> This structured taxonomy reduces class fragmentation, allowing our multiclass engine to calculate explicit threat attributes.</a:t>
            </a:r>
          </a:p>
          <a:p>
            <a:pPr>
              <a:buNone/>
            </a:pPr>
            <a:br>
              <a:rPr lang="en-IN"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7140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4;p1">
            <a:extLst>
              <a:ext uri="{FF2B5EF4-FFF2-40B4-BE49-F238E27FC236}">
                <a16:creationId xmlns:a16="http://schemas.microsoft.com/office/drawing/2014/main" id="{3F236201-F338-4EED-8215-09EE962C4F29}"/>
              </a:ext>
            </a:extLst>
          </p:cNvPr>
          <p:cNvSpPr/>
          <p:nvPr/>
        </p:nvSpPr>
        <p:spPr>
          <a:xfrm>
            <a:off x="1072371" y="-13039"/>
            <a:ext cx="10047249" cy="992201"/>
          </a:xfrm>
          <a:prstGeom prst="rect">
            <a:avLst/>
          </a:prstGeom>
          <a:solidFill>
            <a:srgbClr val="002469"/>
          </a:solidFill>
          <a:ln>
            <a:noFill/>
          </a:ln>
        </p:spPr>
        <p:txBody>
          <a:bodyPr spcFirstLastPara="1" wrap="square" lIns="19025" tIns="9525" rIns="19025" bIns="9500" anchor="ctr" anchorCtr="0">
            <a:noAutofit/>
          </a:bodyPr>
          <a:lstStyle/>
          <a:p>
            <a:pPr lvl="0" algn="ctr">
              <a:buClr>
                <a:srgbClr val="000000"/>
              </a:buClr>
              <a:buSzPts val="1800"/>
            </a:pPr>
            <a:r>
              <a:rPr lang="en-IN" sz="2400" b="1" dirty="0" err="1">
                <a:solidFill>
                  <a:schemeClr val="bg1"/>
                </a:solidFill>
                <a:latin typeface="Calibri" panose="020F0502020204030204" pitchFamily="34" charset="0"/>
                <a:ea typeface="Calibri" panose="020F0502020204030204" pitchFamily="34" charset="0"/>
                <a:cs typeface="Calibri" panose="020F0502020204030204" pitchFamily="34" charset="0"/>
              </a:rPr>
              <a:t>Softmax</a:t>
            </a: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 Probability Triage and the Accuracy Paradox</a:t>
            </a:r>
            <a:endParaRPr sz="24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Black"/>
            </a:endParaRPr>
          </a:p>
        </p:txBody>
      </p:sp>
      <p:sp>
        <p:nvSpPr>
          <p:cNvPr id="7" name="Google Shape;86;p1">
            <a:extLst>
              <a:ext uri="{FF2B5EF4-FFF2-40B4-BE49-F238E27FC236}">
                <a16:creationId xmlns:a16="http://schemas.microsoft.com/office/drawing/2014/main" id="{668EDFDD-5781-7320-D3FA-E431AFC4AE27}"/>
              </a:ext>
            </a:extLst>
          </p:cNvPr>
          <p:cNvSpPr/>
          <p:nvPr/>
        </p:nvSpPr>
        <p:spPr>
          <a:xfrm>
            <a:off x="1072370" y="979162"/>
            <a:ext cx="10047249"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4E7847F7-AD40-2395-EC75-4995714D211C}"/>
              </a:ext>
            </a:extLst>
          </p:cNvPr>
          <p:cNvSpPr/>
          <p:nvPr/>
        </p:nvSpPr>
        <p:spPr>
          <a:xfrm>
            <a:off x="1072373" y="6709833"/>
            <a:ext cx="10047249"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 name="TextBox 2">
            <a:extLst>
              <a:ext uri="{FF2B5EF4-FFF2-40B4-BE49-F238E27FC236}">
                <a16:creationId xmlns:a16="http://schemas.microsoft.com/office/drawing/2014/main" id="{762F523A-3A6A-7DD3-D553-E6C4121019D4}"/>
              </a:ext>
            </a:extLst>
          </p:cNvPr>
          <p:cNvSpPr txBox="1"/>
          <p:nvPr/>
        </p:nvSpPr>
        <p:spPr>
          <a:xfrm>
            <a:off x="1072370" y="1582340"/>
            <a:ext cx="10047249" cy="4955203"/>
          </a:xfrm>
          <a:prstGeom prst="rect">
            <a:avLst/>
          </a:prstGeom>
          <a:noFill/>
        </p:spPr>
        <p:txBody>
          <a:bodyPr wrap="square">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Fluid Risk Profiling:</a:t>
            </a:r>
            <a:r>
              <a:rPr lang="en-IN" sz="2000" dirty="0">
                <a:latin typeface="Calibri" panose="020F0502020204030204" pitchFamily="34" charset="0"/>
                <a:ea typeface="Calibri" panose="020F0502020204030204" pitchFamily="34" charset="0"/>
                <a:cs typeface="Calibri" panose="020F0502020204030204" pitchFamily="34" charset="0"/>
              </a:rPr>
              <a:t> Implemented an advanced Multiclass Random Forest framework with </a:t>
            </a:r>
            <a:r>
              <a:rPr lang="en-IN" sz="2000" dirty="0" err="1">
                <a:latin typeface="Calibri" panose="020F0502020204030204" pitchFamily="34" charset="0"/>
                <a:ea typeface="Calibri" panose="020F0502020204030204" pitchFamily="34" charset="0"/>
                <a:cs typeface="Calibri" panose="020F0502020204030204" pitchFamily="34" charset="0"/>
              </a:rPr>
              <a:t>Softmax</a:t>
            </a:r>
            <a:r>
              <a:rPr lang="en-IN" sz="2000" dirty="0">
                <a:latin typeface="Calibri" panose="020F0502020204030204" pitchFamily="34" charset="0"/>
                <a:ea typeface="Calibri" panose="020F0502020204030204" pitchFamily="34" charset="0"/>
                <a:cs typeface="Calibri" panose="020F0502020204030204" pitchFamily="34" charset="0"/>
              </a:rPr>
              <a:t> style probability mapping to calculate a fluid spectrum of risk across all six categories simultaneously.</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b="1" dirty="0">
                <a:latin typeface="Calibri" panose="020F0502020204030204" pitchFamily="34" charset="0"/>
                <a:ea typeface="Calibri" panose="020F0502020204030204" pitchFamily="34" charset="0"/>
                <a:cs typeface="Calibri" panose="020F0502020204030204" pitchFamily="34" charset="0"/>
              </a:rPr>
              <a:t>Outstanding Baseline Performance:</a:t>
            </a:r>
            <a:r>
              <a:rPr lang="en-IN" sz="2000" dirty="0">
                <a:latin typeface="Calibri" panose="020F0502020204030204" pitchFamily="34" charset="0"/>
                <a:ea typeface="Calibri" panose="020F0502020204030204" pitchFamily="34" charset="0"/>
                <a:cs typeface="Calibri" panose="020F0502020204030204" pitchFamily="34" charset="0"/>
              </a:rPr>
              <a:t> Achieved an exceptional 99.60 percent overall accuracy, validating normal traffic with 100 percent precision and mitigating massive flooding streams with a 99 percent success rate.</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b="1" dirty="0">
                <a:latin typeface="Calibri" panose="020F0502020204030204" pitchFamily="34" charset="0"/>
                <a:ea typeface="Calibri" panose="020F0502020204030204" pitchFamily="34" charset="0"/>
                <a:cs typeface="Calibri" panose="020F0502020204030204" pitchFamily="34" charset="0"/>
              </a:rPr>
              <a:t>The Accuracy Paradox Exposed:</a:t>
            </a:r>
            <a:r>
              <a:rPr lang="en-IN" sz="2000" dirty="0">
                <a:latin typeface="Calibri" panose="020F0502020204030204" pitchFamily="34" charset="0"/>
                <a:ea typeface="Calibri" panose="020F0502020204030204" pitchFamily="34" charset="0"/>
                <a:cs typeface="Calibri" panose="020F0502020204030204" pitchFamily="34" charset="0"/>
              </a:rPr>
              <a:t> This near perfect global score dangerously hid a total failure in rare, critical risk areas, returning a 0.00 F1 score for Web Attacks due to severe data scarcity.</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b="1" dirty="0">
                <a:latin typeface="Calibri" panose="020F0502020204030204" pitchFamily="34" charset="0"/>
                <a:ea typeface="Calibri" panose="020F0502020204030204" pitchFamily="34" charset="0"/>
                <a:cs typeface="Calibri" panose="020F0502020204030204" pitchFamily="34" charset="0"/>
              </a:rPr>
              <a:t>Justification for a Hybrid Model:</a:t>
            </a:r>
            <a:r>
              <a:rPr lang="en-IN" sz="2000" dirty="0">
                <a:latin typeface="Calibri" panose="020F0502020204030204" pitchFamily="34" charset="0"/>
                <a:ea typeface="Calibri" panose="020F0502020204030204" pitchFamily="34" charset="0"/>
                <a:cs typeface="Calibri" panose="020F0502020204030204" pitchFamily="34" charset="0"/>
              </a:rPr>
              <a:t> This critical defensive blind spot proves that a standalone supervised model is mathematically insufficient, providing the direct business justification for our multi layered hybrid architecture.</a:t>
            </a:r>
          </a:p>
          <a:p>
            <a:pPr>
              <a:buNone/>
            </a:pPr>
            <a:br>
              <a:rPr lang="en-IN"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7140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4;p1">
            <a:extLst>
              <a:ext uri="{FF2B5EF4-FFF2-40B4-BE49-F238E27FC236}">
                <a16:creationId xmlns:a16="http://schemas.microsoft.com/office/drawing/2014/main" id="{3F236201-F338-4EED-8215-09EE962C4F29}"/>
              </a:ext>
            </a:extLst>
          </p:cNvPr>
          <p:cNvSpPr/>
          <p:nvPr/>
        </p:nvSpPr>
        <p:spPr>
          <a:xfrm>
            <a:off x="970156" y="0"/>
            <a:ext cx="10292576" cy="992201"/>
          </a:xfrm>
          <a:prstGeom prst="rect">
            <a:avLst/>
          </a:prstGeom>
          <a:solidFill>
            <a:srgbClr val="002469"/>
          </a:solidFill>
          <a:ln>
            <a:noFill/>
          </a:ln>
        </p:spPr>
        <p:txBody>
          <a:bodyPr spcFirstLastPara="1" wrap="square" lIns="19025" tIns="9525" rIns="19025" bIns="9500" anchor="ctr" anchorCtr="0">
            <a:noAutofit/>
          </a:bodyPr>
          <a:lstStyle/>
          <a:p>
            <a:pPr lvl="0" algn="ctr">
              <a:buClr>
                <a:srgbClr val="000000"/>
              </a:buClr>
              <a:buSzPts val="1800"/>
            </a:pP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Capturing Novel and Unlearned Threat : Advanced Behavior Upgrades</a:t>
            </a:r>
            <a:endParaRPr sz="24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Black"/>
            </a:endParaRPr>
          </a:p>
        </p:txBody>
      </p:sp>
      <p:sp>
        <p:nvSpPr>
          <p:cNvPr id="7" name="Google Shape;86;p1">
            <a:extLst>
              <a:ext uri="{FF2B5EF4-FFF2-40B4-BE49-F238E27FC236}">
                <a16:creationId xmlns:a16="http://schemas.microsoft.com/office/drawing/2014/main" id="{668EDFDD-5781-7320-D3FA-E431AFC4AE27}"/>
              </a:ext>
            </a:extLst>
          </p:cNvPr>
          <p:cNvSpPr/>
          <p:nvPr/>
        </p:nvSpPr>
        <p:spPr>
          <a:xfrm>
            <a:off x="970156" y="992201"/>
            <a:ext cx="10292576"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4E7847F7-AD40-2395-EC75-4995714D211C}"/>
              </a:ext>
            </a:extLst>
          </p:cNvPr>
          <p:cNvSpPr/>
          <p:nvPr/>
        </p:nvSpPr>
        <p:spPr>
          <a:xfrm>
            <a:off x="970155" y="6709833"/>
            <a:ext cx="10292575"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6" name="TextBox 5">
            <a:extLst>
              <a:ext uri="{FF2B5EF4-FFF2-40B4-BE49-F238E27FC236}">
                <a16:creationId xmlns:a16="http://schemas.microsoft.com/office/drawing/2014/main" id="{A4F8817A-E7A5-0094-56F8-D31ACA8FF919}"/>
              </a:ext>
            </a:extLst>
          </p:cNvPr>
          <p:cNvSpPr txBox="1"/>
          <p:nvPr/>
        </p:nvSpPr>
        <p:spPr>
          <a:xfrm>
            <a:off x="970154" y="1558257"/>
            <a:ext cx="10292575" cy="3139321"/>
          </a:xfrm>
          <a:prstGeom prst="rect">
            <a:avLst/>
          </a:prstGeom>
          <a:noFill/>
        </p:spPr>
        <p:txBody>
          <a:bodyPr wrap="square">
            <a:spAutoFit/>
          </a:bodyPr>
          <a:lstStyle/>
          <a:p>
            <a:pPr marL="285750" indent="-285750">
              <a:buFont typeface="Arial" panose="020B0604020202020204" pitchFamily="34" charset="0"/>
              <a:buChar char="•"/>
            </a:pPr>
            <a:r>
              <a:rPr lang="en-IN" dirty="0"/>
              <a:t>Supervised models are strictly bound by their training history and cannot identify novel or evolving attack structures.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We upgraded our unsupervised pipeline to an advanced nonlinear framework called Kernel PCA using </a:t>
            </a:r>
            <a:r>
              <a:rPr lang="en-IN" dirty="0" err="1"/>
              <a:t>Nystroem</a:t>
            </a:r>
            <a:r>
              <a:rPr lang="en-IN" dirty="0"/>
              <a:t> approximation.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This allows the system to discover novel malicious anomalies completely unlearned by the supervised models.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Key Operational Outcome:</a:t>
            </a:r>
            <a:r>
              <a:rPr lang="en-IN" dirty="0"/>
              <a:t> This upgrade successfully boosted our behavioural threat grouping clarity from 0.4893 to 0.5823, an exact 19.00 percent improvement.</a:t>
            </a:r>
          </a:p>
        </p:txBody>
      </p:sp>
    </p:spTree>
    <p:extLst>
      <p:ext uri="{BB962C8B-B14F-4D97-AF65-F5344CB8AC3E}">
        <p14:creationId xmlns:p14="http://schemas.microsoft.com/office/powerpoint/2010/main" val="133714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4;p1">
            <a:extLst>
              <a:ext uri="{FF2B5EF4-FFF2-40B4-BE49-F238E27FC236}">
                <a16:creationId xmlns:a16="http://schemas.microsoft.com/office/drawing/2014/main" id="{3F236201-F338-4EED-8215-09EE962C4F29}"/>
              </a:ext>
            </a:extLst>
          </p:cNvPr>
          <p:cNvSpPr/>
          <p:nvPr/>
        </p:nvSpPr>
        <p:spPr>
          <a:xfrm>
            <a:off x="1137424" y="0"/>
            <a:ext cx="9991493" cy="992201"/>
          </a:xfrm>
          <a:prstGeom prst="rect">
            <a:avLst/>
          </a:prstGeom>
          <a:solidFill>
            <a:srgbClr val="002469"/>
          </a:solidFill>
          <a:ln>
            <a:noFill/>
          </a:ln>
        </p:spPr>
        <p:txBody>
          <a:bodyPr spcFirstLastPara="1" wrap="square" lIns="19025" tIns="9525" rIns="19025" bIns="9500" anchor="ctr" anchorCtr="0">
            <a:noAutofit/>
          </a:bodyPr>
          <a:lstStyle/>
          <a:p>
            <a:pPr lvl="0" algn="ctr">
              <a:buClr>
                <a:srgbClr val="000000"/>
              </a:buClr>
              <a:buSzPts val="1800"/>
            </a:pP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The Stacked Hybrid Security Shield</a:t>
            </a:r>
            <a:endParaRPr sz="24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Black"/>
            </a:endParaRPr>
          </a:p>
        </p:txBody>
      </p:sp>
      <p:sp>
        <p:nvSpPr>
          <p:cNvPr id="7" name="Google Shape;86;p1">
            <a:extLst>
              <a:ext uri="{FF2B5EF4-FFF2-40B4-BE49-F238E27FC236}">
                <a16:creationId xmlns:a16="http://schemas.microsoft.com/office/drawing/2014/main" id="{668EDFDD-5781-7320-D3FA-E431AFC4AE27}"/>
              </a:ext>
            </a:extLst>
          </p:cNvPr>
          <p:cNvSpPr/>
          <p:nvPr/>
        </p:nvSpPr>
        <p:spPr>
          <a:xfrm>
            <a:off x="1137424" y="980792"/>
            <a:ext cx="99914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4E7847F7-AD40-2395-EC75-4995714D211C}"/>
              </a:ext>
            </a:extLst>
          </p:cNvPr>
          <p:cNvSpPr/>
          <p:nvPr/>
        </p:nvSpPr>
        <p:spPr>
          <a:xfrm>
            <a:off x="1137424" y="6709833"/>
            <a:ext cx="99914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 name="TextBox 2">
            <a:extLst>
              <a:ext uri="{FF2B5EF4-FFF2-40B4-BE49-F238E27FC236}">
                <a16:creationId xmlns:a16="http://schemas.microsoft.com/office/drawing/2014/main" id="{501C3D34-5DE5-E400-7335-6D91769BA1A8}"/>
              </a:ext>
            </a:extLst>
          </p:cNvPr>
          <p:cNvSpPr txBox="1"/>
          <p:nvPr/>
        </p:nvSpPr>
        <p:spPr>
          <a:xfrm>
            <a:off x="1137424" y="1241740"/>
            <a:ext cx="9991492" cy="5355312"/>
          </a:xfrm>
          <a:prstGeom prst="rect">
            <a:avLst/>
          </a:prstGeom>
          <a:noFill/>
        </p:spPr>
        <p:txBody>
          <a:bodyPr wrap="square">
            <a:spAutoFit/>
          </a:bodyPr>
          <a:lstStyle/>
          <a:p>
            <a:pPr>
              <a:buNone/>
            </a:pPr>
            <a:r>
              <a:rPr lang="en-IN" dirty="0"/>
              <a:t>We constructed our final master shield by fusing supervised probability vectors with unsupervised spatial metrics.</a:t>
            </a:r>
          </a:p>
          <a:p>
            <a:pPr>
              <a:buNone/>
            </a:pPr>
            <a:endParaRPr lang="en-IN" dirty="0"/>
          </a:p>
          <a:p>
            <a:pPr>
              <a:buNone/>
            </a:pPr>
            <a:r>
              <a:rPr lang="en-IN" dirty="0"/>
              <a:t>The architecture evaluates four distinct streams of intelligence simultaneously to maximize detection confidence:</a:t>
            </a:r>
          </a:p>
          <a:p>
            <a:pPr>
              <a:buNone/>
            </a:pPr>
            <a:endParaRPr lang="en-IN" dirty="0"/>
          </a:p>
          <a:p>
            <a:pPr>
              <a:buFont typeface="+mj-lt"/>
              <a:buAutoNum type="arabicPeriod"/>
            </a:pPr>
            <a:r>
              <a:rPr lang="en-IN" b="1" dirty="0"/>
              <a:t>Supervised Binary Signals:</a:t>
            </a:r>
            <a:r>
              <a:rPr lang="en-IN" dirty="0"/>
              <a:t> Overall threat likelihood predictions and probability scores from our baseline Random Forest model.</a:t>
            </a:r>
          </a:p>
          <a:p>
            <a:pPr>
              <a:buFont typeface="+mj-lt"/>
              <a:buAutoNum type="arabicPeriod"/>
            </a:pPr>
            <a:endParaRPr lang="en-IN" dirty="0"/>
          </a:p>
          <a:p>
            <a:pPr>
              <a:buFont typeface="+mj-lt"/>
              <a:buAutoNum type="arabicPeriod"/>
            </a:pPr>
            <a:r>
              <a:rPr lang="en-IN" b="1" dirty="0"/>
              <a:t>Supervised Multiclass Intelligence:</a:t>
            </a:r>
            <a:r>
              <a:rPr lang="en-IN" dirty="0"/>
              <a:t> Multiclass Random Forest confidence predictions and </a:t>
            </a:r>
            <a:r>
              <a:rPr lang="en-IN" dirty="0" err="1"/>
              <a:t>Softmax</a:t>
            </a:r>
            <a:r>
              <a:rPr lang="en-IN" dirty="0"/>
              <a:t> style risk probabilities.</a:t>
            </a:r>
          </a:p>
          <a:p>
            <a:pPr>
              <a:buFont typeface="+mj-lt"/>
              <a:buAutoNum type="arabicPeriod"/>
            </a:pPr>
            <a:endParaRPr lang="en-IN" dirty="0"/>
          </a:p>
          <a:p>
            <a:pPr>
              <a:buFont typeface="+mj-lt"/>
              <a:buAutoNum type="arabicPeriod"/>
            </a:pPr>
            <a:r>
              <a:rPr lang="en-IN" b="1" dirty="0"/>
              <a:t>Unsupervised Behavioural Knowledge:</a:t>
            </a:r>
            <a:r>
              <a:rPr lang="en-IN" dirty="0"/>
              <a:t> Cluster assignments and centroid distance metrics mapped via our nonlinear clustering.</a:t>
            </a:r>
          </a:p>
          <a:p>
            <a:pPr>
              <a:buFont typeface="+mj-lt"/>
              <a:buAutoNum type="arabicPeriod"/>
            </a:pPr>
            <a:endParaRPr lang="en-IN" dirty="0"/>
          </a:p>
          <a:p>
            <a:pPr>
              <a:buFont typeface="+mj-lt"/>
              <a:buAutoNum type="arabicPeriod"/>
            </a:pPr>
            <a:r>
              <a:rPr lang="en-IN" b="1" dirty="0"/>
              <a:t>Raw Network Indicators:</a:t>
            </a:r>
            <a:r>
              <a:rPr lang="en-IN" dirty="0"/>
              <a:t> Original data flow characteristics and core connection packet metrics</a:t>
            </a:r>
          </a:p>
          <a:p>
            <a:pPr>
              <a:buFont typeface="+mj-lt"/>
              <a:buAutoNum type="arabicPeriod"/>
            </a:pPr>
            <a:endParaRPr lang="en-IN" dirty="0"/>
          </a:p>
          <a:p>
            <a:pPr>
              <a:buNone/>
            </a:pPr>
            <a:r>
              <a:rPr lang="en-IN" dirty="0"/>
              <a:t>Combining models allows behavioural distance metrics to fine tune prediction probabilities. This helps the final system catch inconsistencies and block hidden threats.</a:t>
            </a:r>
          </a:p>
        </p:txBody>
      </p:sp>
    </p:spTree>
    <p:extLst>
      <p:ext uri="{BB962C8B-B14F-4D97-AF65-F5344CB8AC3E}">
        <p14:creationId xmlns:p14="http://schemas.microsoft.com/office/powerpoint/2010/main" val="1337140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4;p1">
            <a:extLst>
              <a:ext uri="{FF2B5EF4-FFF2-40B4-BE49-F238E27FC236}">
                <a16:creationId xmlns:a16="http://schemas.microsoft.com/office/drawing/2014/main" id="{3F236201-F338-4EED-8215-09EE962C4F29}"/>
              </a:ext>
            </a:extLst>
          </p:cNvPr>
          <p:cNvSpPr/>
          <p:nvPr/>
        </p:nvSpPr>
        <p:spPr>
          <a:xfrm>
            <a:off x="1115122" y="0"/>
            <a:ext cx="10047249" cy="992201"/>
          </a:xfrm>
          <a:prstGeom prst="rect">
            <a:avLst/>
          </a:prstGeom>
          <a:solidFill>
            <a:srgbClr val="002469"/>
          </a:solidFill>
          <a:ln>
            <a:noFill/>
          </a:ln>
        </p:spPr>
        <p:txBody>
          <a:bodyPr spcFirstLastPara="1" wrap="square" lIns="19025" tIns="9525" rIns="19025" bIns="9500" anchor="ctr" anchorCtr="0">
            <a:noAutofit/>
          </a:bodyPr>
          <a:lstStyle/>
          <a:p>
            <a:pPr lvl="0" algn="ctr">
              <a:buClr>
                <a:srgbClr val="000000"/>
              </a:buClr>
              <a:buSzPts val="1800"/>
            </a:pP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Managing Operational Complexity and Longevity</a:t>
            </a:r>
            <a:endParaRPr sz="24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Black"/>
            </a:endParaRPr>
          </a:p>
        </p:txBody>
      </p:sp>
      <p:sp>
        <p:nvSpPr>
          <p:cNvPr id="7" name="Google Shape;86;p1">
            <a:extLst>
              <a:ext uri="{FF2B5EF4-FFF2-40B4-BE49-F238E27FC236}">
                <a16:creationId xmlns:a16="http://schemas.microsoft.com/office/drawing/2014/main" id="{668EDFDD-5781-7320-D3FA-E431AFC4AE27}"/>
              </a:ext>
            </a:extLst>
          </p:cNvPr>
          <p:cNvSpPr/>
          <p:nvPr/>
        </p:nvSpPr>
        <p:spPr>
          <a:xfrm>
            <a:off x="1115121" y="992201"/>
            <a:ext cx="10047249"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4E7847F7-AD40-2395-EC75-4995714D211C}"/>
              </a:ext>
            </a:extLst>
          </p:cNvPr>
          <p:cNvSpPr/>
          <p:nvPr/>
        </p:nvSpPr>
        <p:spPr>
          <a:xfrm>
            <a:off x="1115121" y="6709833"/>
            <a:ext cx="10047249"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6" name="TextBox 5">
            <a:extLst>
              <a:ext uri="{FF2B5EF4-FFF2-40B4-BE49-F238E27FC236}">
                <a16:creationId xmlns:a16="http://schemas.microsoft.com/office/drawing/2014/main" id="{1637B390-9FF0-8FBE-277D-5F04826CEDC8}"/>
              </a:ext>
            </a:extLst>
          </p:cNvPr>
          <p:cNvSpPr txBox="1"/>
          <p:nvPr/>
        </p:nvSpPr>
        <p:spPr>
          <a:xfrm>
            <a:off x="1115120" y="1450360"/>
            <a:ext cx="10047249" cy="4801314"/>
          </a:xfrm>
          <a:prstGeom prst="rect">
            <a:avLst/>
          </a:prstGeom>
          <a:noFill/>
        </p:spPr>
        <p:txBody>
          <a:bodyPr wrap="square">
            <a:spAutoFit/>
          </a:bodyPr>
          <a:lstStyle/>
          <a:p>
            <a:pPr marL="285750" indent="-285750">
              <a:buFont typeface="Arial" panose="020B0604020202020204" pitchFamily="34" charset="0"/>
              <a:buChar char="•"/>
            </a:pPr>
            <a:r>
              <a:rPr lang="en-IN" b="1" dirty="0"/>
              <a:t>Operational Complexity Risk:</a:t>
            </a:r>
            <a:r>
              <a:rPr lang="en-IN" dirty="0"/>
              <a:t> Processing multiple advanced machine learning models simultaneously increases compute resource overhead.</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Corporate Mitigation: We deploy optimized, lightweight mathematical approximations to ensure high speed processing.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The Threat of Data Drift:</a:t>
            </a:r>
            <a:r>
              <a:rPr lang="en-IN" dirty="0"/>
              <a:t> Evolving hacker strategies over time can cause standard model accuracy to decay.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Corporate Mitigation: Established a continuous update feedback loop to retrain the system automatically on fresh threat data.</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Upstream Error Dependency:</a:t>
            </a:r>
            <a:r>
              <a:rPr lang="en-IN" dirty="0"/>
              <a:t> Final outputs rely heavily on structural features derived from earlier models in the pipeline.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Corporate Mitigation: Strict segregation rules and cross validation ensure complete protection against systemic data errors</a:t>
            </a:r>
          </a:p>
        </p:txBody>
      </p:sp>
    </p:spTree>
    <p:extLst>
      <p:ext uri="{BB962C8B-B14F-4D97-AF65-F5344CB8AC3E}">
        <p14:creationId xmlns:p14="http://schemas.microsoft.com/office/powerpoint/2010/main" val="1337140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4;p1">
            <a:extLst>
              <a:ext uri="{FF2B5EF4-FFF2-40B4-BE49-F238E27FC236}">
                <a16:creationId xmlns:a16="http://schemas.microsoft.com/office/drawing/2014/main" id="{444023F9-1118-1DAA-914D-6C7AAE6E1238}"/>
              </a:ext>
            </a:extLst>
          </p:cNvPr>
          <p:cNvSpPr/>
          <p:nvPr/>
        </p:nvSpPr>
        <p:spPr>
          <a:xfrm>
            <a:off x="1115122" y="0"/>
            <a:ext cx="10047249" cy="992201"/>
          </a:xfrm>
          <a:prstGeom prst="rect">
            <a:avLst/>
          </a:prstGeom>
          <a:solidFill>
            <a:srgbClr val="002469"/>
          </a:solidFill>
          <a:ln>
            <a:noFill/>
          </a:ln>
        </p:spPr>
        <p:txBody>
          <a:bodyPr spcFirstLastPara="1" wrap="square" lIns="19025" tIns="9525" rIns="19025" bIns="9500" anchor="ctr" anchorCtr="0">
            <a:noAutofit/>
          </a:bodyPr>
          <a:lstStyle/>
          <a:p>
            <a:pPr lvl="0" algn="ctr">
              <a:buClr>
                <a:srgbClr val="000000"/>
              </a:buClr>
              <a:buSzPts val="1800"/>
            </a:pPr>
            <a:r>
              <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rPr>
              <a:t>Strategic Deployment Roadmap</a:t>
            </a:r>
            <a:endParaRPr sz="24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Black"/>
            </a:endParaRPr>
          </a:p>
        </p:txBody>
      </p:sp>
      <p:sp>
        <p:nvSpPr>
          <p:cNvPr id="7" name="Google Shape;86;p1">
            <a:extLst>
              <a:ext uri="{FF2B5EF4-FFF2-40B4-BE49-F238E27FC236}">
                <a16:creationId xmlns:a16="http://schemas.microsoft.com/office/drawing/2014/main" id="{5BD75023-F25A-CF4F-4743-A0A08B464AD3}"/>
              </a:ext>
            </a:extLst>
          </p:cNvPr>
          <p:cNvSpPr/>
          <p:nvPr/>
        </p:nvSpPr>
        <p:spPr>
          <a:xfrm>
            <a:off x="1115121" y="6709833"/>
            <a:ext cx="10047249"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 name="Google Shape;86;p1">
            <a:extLst>
              <a:ext uri="{FF2B5EF4-FFF2-40B4-BE49-F238E27FC236}">
                <a16:creationId xmlns:a16="http://schemas.microsoft.com/office/drawing/2014/main" id="{890463C3-C93E-DE65-14BD-0597F9A6EBF0}"/>
              </a:ext>
            </a:extLst>
          </p:cNvPr>
          <p:cNvSpPr/>
          <p:nvPr/>
        </p:nvSpPr>
        <p:spPr>
          <a:xfrm>
            <a:off x="1115121" y="992201"/>
            <a:ext cx="10047249"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1" name="TextBox 10">
            <a:extLst>
              <a:ext uri="{FF2B5EF4-FFF2-40B4-BE49-F238E27FC236}">
                <a16:creationId xmlns:a16="http://schemas.microsoft.com/office/drawing/2014/main" id="{0559C706-55F1-4613-778F-F7DC02218470}"/>
              </a:ext>
            </a:extLst>
          </p:cNvPr>
          <p:cNvSpPr txBox="1"/>
          <p:nvPr/>
        </p:nvSpPr>
        <p:spPr>
          <a:xfrm>
            <a:off x="1115120" y="1384237"/>
            <a:ext cx="10047249" cy="923330"/>
          </a:xfrm>
          <a:prstGeom prst="rect">
            <a:avLst/>
          </a:prstGeom>
          <a:noFill/>
        </p:spPr>
        <p:txBody>
          <a:bodyPr wrap="square">
            <a:spAutoFit/>
          </a:bodyPr>
          <a:lstStyle/>
          <a:p>
            <a:pPr rtl="0">
              <a:buNone/>
            </a:pPr>
            <a:r>
              <a:rPr lang="en-IN" sz="1800" b="0" i="0" u="none" strike="noStrike" dirty="0">
                <a:solidFill>
                  <a:srgbClr val="475569"/>
                </a:solidFill>
                <a:effectLst/>
                <a:latin typeface="Montserrat" panose="00000500000000000000" pitchFamily="2" charset="0"/>
              </a:rPr>
              <a:t>A clear four-phase actionable schedule designed for seamless operational transition:</a:t>
            </a:r>
            <a:endParaRPr lang="en-IN" b="0" dirty="0">
              <a:effectLst/>
            </a:endParaRPr>
          </a:p>
          <a:p>
            <a:pPr>
              <a:buNone/>
            </a:pPr>
            <a:br>
              <a:rPr lang="en-IN" dirty="0"/>
            </a:br>
            <a:endParaRPr lang="en-IN" dirty="0"/>
          </a:p>
        </p:txBody>
      </p:sp>
      <p:pic>
        <p:nvPicPr>
          <p:cNvPr id="13" name="Picture 12">
            <a:extLst>
              <a:ext uri="{FF2B5EF4-FFF2-40B4-BE49-F238E27FC236}">
                <a16:creationId xmlns:a16="http://schemas.microsoft.com/office/drawing/2014/main" id="{BC19FDDE-EEB4-0819-5BC9-D971EAB5B56D}"/>
              </a:ext>
            </a:extLst>
          </p:cNvPr>
          <p:cNvPicPr>
            <a:picLocks noChangeAspect="1"/>
          </p:cNvPicPr>
          <p:nvPr/>
        </p:nvPicPr>
        <p:blipFill>
          <a:blip r:embed="rId3"/>
          <a:stretch>
            <a:fillRect/>
          </a:stretch>
        </p:blipFill>
        <p:spPr>
          <a:xfrm>
            <a:off x="1115120" y="2263714"/>
            <a:ext cx="10047249" cy="4081330"/>
          </a:xfrm>
          <a:prstGeom prst="rect">
            <a:avLst/>
          </a:prstGeom>
        </p:spPr>
      </p:pic>
    </p:spTree>
    <p:extLst>
      <p:ext uri="{BB962C8B-B14F-4D97-AF65-F5344CB8AC3E}">
        <p14:creationId xmlns:p14="http://schemas.microsoft.com/office/powerpoint/2010/main" val="2406231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5972C2-73D6-E4B4-0C92-819D106C1E0B}"/>
              </a:ext>
            </a:extLst>
          </p:cNvPr>
          <p:cNvSpPr txBox="1"/>
          <p:nvPr/>
        </p:nvSpPr>
        <p:spPr>
          <a:xfrm>
            <a:off x="4337823" y="3194824"/>
            <a:ext cx="3069623" cy="923330"/>
          </a:xfrm>
          <a:prstGeom prst="rect">
            <a:avLst/>
          </a:prstGeom>
          <a:noFill/>
        </p:spPr>
        <p:txBody>
          <a:bodyPr wrap="none" rtlCol="0">
            <a:spAutoFit/>
          </a:bodyPr>
          <a:lstStyle/>
          <a:p>
            <a:r>
              <a:rPr lang="en-IN" sz="5400" dirty="0">
                <a:latin typeface="Calibri" panose="020F0502020204030204" pitchFamily="34" charset="0"/>
                <a:ea typeface="Calibri" panose="020F0502020204030204" pitchFamily="34" charset="0"/>
                <a:cs typeface="Calibri" panose="020F0502020204030204" pitchFamily="34" charset="0"/>
              </a:rPr>
              <a:t>Thank You</a:t>
            </a:r>
          </a:p>
        </p:txBody>
      </p:sp>
      <p:sp>
        <p:nvSpPr>
          <p:cNvPr id="4" name="Google Shape;84;p1">
            <a:extLst>
              <a:ext uri="{FF2B5EF4-FFF2-40B4-BE49-F238E27FC236}">
                <a16:creationId xmlns:a16="http://schemas.microsoft.com/office/drawing/2014/main" id="{4D09ECB8-C935-817B-5910-7AD4F0ED4A93}"/>
              </a:ext>
            </a:extLst>
          </p:cNvPr>
          <p:cNvSpPr/>
          <p:nvPr/>
        </p:nvSpPr>
        <p:spPr>
          <a:xfrm>
            <a:off x="1018095" y="0"/>
            <a:ext cx="10086680"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a:solidFill>
                  <a:schemeClr val="lt1"/>
                </a:solidFill>
                <a:latin typeface="Calibri" panose="020F0502020204030204" pitchFamily="34" charset="0"/>
                <a:ea typeface="Calibri" panose="020F0502020204030204" pitchFamily="34" charset="0"/>
                <a:cs typeface="Calibri" panose="020F0502020204030204" pitchFamily="34" charset="0"/>
                <a:sym typeface="Arial"/>
              </a:rPr>
              <a:t>AAI-510 Group 2 Project</a:t>
            </a:r>
            <a:endParaRPr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chemeClr val="lt1"/>
              </a:solidFill>
              <a:latin typeface="Arial Black"/>
              <a:ea typeface="Arial Black"/>
              <a:cs typeface="Arial Black"/>
              <a:sym typeface="Arial Black"/>
            </a:endParaRPr>
          </a:p>
        </p:txBody>
      </p:sp>
      <p:sp>
        <p:nvSpPr>
          <p:cNvPr id="6" name="Google Shape;86;p1">
            <a:extLst>
              <a:ext uri="{FF2B5EF4-FFF2-40B4-BE49-F238E27FC236}">
                <a16:creationId xmlns:a16="http://schemas.microsoft.com/office/drawing/2014/main" id="{BA9857A4-090F-4D6D-3938-9B5C47415197}"/>
              </a:ext>
            </a:extLst>
          </p:cNvPr>
          <p:cNvSpPr/>
          <p:nvPr/>
        </p:nvSpPr>
        <p:spPr>
          <a:xfrm>
            <a:off x="1115121" y="6709833"/>
            <a:ext cx="10047249"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8" name="Google Shape;86;p1">
            <a:extLst>
              <a:ext uri="{FF2B5EF4-FFF2-40B4-BE49-F238E27FC236}">
                <a16:creationId xmlns:a16="http://schemas.microsoft.com/office/drawing/2014/main" id="{99ABFAB7-CC48-E51B-F04B-7E2B475D14B3}"/>
              </a:ext>
            </a:extLst>
          </p:cNvPr>
          <p:cNvSpPr/>
          <p:nvPr/>
        </p:nvSpPr>
        <p:spPr>
          <a:xfrm>
            <a:off x="1018095" y="992201"/>
            <a:ext cx="10086680"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25601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2077</TotalTime>
  <Words>2529</Words>
  <Application>Microsoft Office PowerPoint</Application>
  <PresentationFormat>Widescreen</PresentationFormat>
  <Paragraphs>145</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Arial Black</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Kunal Gurtoo</dc:creator>
  <cp:lastModifiedBy>Kalyan Brata Majumder</cp:lastModifiedBy>
  <cp:revision>10</cp:revision>
  <dcterms:created xsi:type="dcterms:W3CDTF">2026-06-16T06:56:22Z</dcterms:created>
  <dcterms:modified xsi:type="dcterms:W3CDTF">2026-06-19T03:02:18Z</dcterms:modified>
</cp:coreProperties>
</file>